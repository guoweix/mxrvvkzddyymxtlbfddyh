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79" r:id="rId3"/>
    <p:sldId id="5023" r:id="rId4"/>
    <p:sldId id="5026" r:id="rId5"/>
    <p:sldId id="5027" r:id="rId7"/>
    <p:sldId id="5028" r:id="rId8"/>
    <p:sldId id="5029" r:id="rId9"/>
    <p:sldId id="5043" r:id="rId10"/>
    <p:sldId id="5035" r:id="rId11"/>
    <p:sldId id="5044" r:id="rId12"/>
    <p:sldId id="5040" r:id="rId13"/>
    <p:sldId id="5041" r:id="rId14"/>
    <p:sldId id="5037" r:id="rId15"/>
    <p:sldId id="5036" r:id="rId16"/>
    <p:sldId id="5045" r:id="rId17"/>
    <p:sldId id="5039" r:id="rId18"/>
    <p:sldId id="5038" r:id="rId19"/>
    <p:sldId id="5017" r:id="rId20"/>
    <p:sldId id="5006" r:id="rId21"/>
    <p:sldId id="5021" r:id="rId22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7F08"/>
    <a:srgbClr val="08F1F4"/>
    <a:srgbClr val="0C0588"/>
    <a:srgbClr val="0AE9F5"/>
    <a:srgbClr val="00C9DC"/>
    <a:srgbClr val="969696"/>
    <a:srgbClr val="254FEB"/>
    <a:srgbClr val="F0F5FC"/>
    <a:srgbClr val="0A3CF5"/>
    <a:srgbClr val="0A06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86"/>
    <p:restoredTop sz="96405"/>
  </p:normalViewPr>
  <p:slideViewPr>
    <p:cSldViewPr snapToGrid="0" snapToObjects="1">
      <p:cViewPr varScale="1">
        <p:scale>
          <a:sx n="60" d="100"/>
          <a:sy n="60" d="100"/>
        </p:scale>
        <p:origin x="84" y="1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ableStyles" Target="tableStyles.xml"/><Relationship Id="rId26" Type="http://schemas.openxmlformats.org/officeDocument/2006/relationships/tags" Target="tags/tag10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2A1F87-F110-1C45-9864-1659D3ED583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D39FF4-4997-9F4F-A2B0-9107E5679A8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x-none" altLang="zh-CN"/>
              <a:t>llm推理调度要求计算线程的协调推进，但是linux默认公平调度器则只能看到独立任务无法做到任务间的协调。因此我们的项目提出了三个目标</a:t>
            </a:r>
            <a:endParaRPr lang="x-none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x-none" altLang="zh-CN"/>
              <a:t>我们相较于同类产品的优势在于本项目分析出cpu模型推理的瓶颈在于组内同步和组间仲裁的调度问题，所以两层的协调是项目的核心优势。同时我们的工作在标准linux上落地，可以广泛的应用到linux平台上</a:t>
            </a:r>
            <a:endParaRPr lang="x-none" altLang="zh-CN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3" Type="http://schemas.openxmlformats.org/officeDocument/2006/relationships/tags" Target="../tags/tag8.xml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3" Type="http://schemas.openxmlformats.org/officeDocument/2006/relationships/tags" Target="../tags/tag10.xml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tags" Target="../tags/tag11.xml"/><Relationship Id="rId4" Type="http://schemas.openxmlformats.org/officeDocument/2006/relationships/tags" Target="../tags/tag12.xml"/><Relationship Id="rId5" Type="http://schemas.openxmlformats.org/officeDocument/2006/relationships/tags" Target="../tags/tag13.xml"/><Relationship Id="rId6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4.xml"/><Relationship Id="rId3" Type="http://schemas.openxmlformats.org/officeDocument/2006/relationships/tags" Target="../tags/tag15.xml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tags" Target="../tags/tag18.xml"/><Relationship Id="rId4" Type="http://schemas.openxmlformats.org/officeDocument/2006/relationships/tags" Target="../tags/tag19.xml"/><Relationship Id="rId5" Type="http://schemas.openxmlformats.org/officeDocument/2006/relationships/tags" Target="../tags/tag20.xml"/><Relationship Id="rId6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3" Type="http://schemas.openxmlformats.org/officeDocument/2006/relationships/tags" Target="../tags/tag24.xml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tags" Target="../tags/tag25.xml"/><Relationship Id="rId4" Type="http://schemas.openxmlformats.org/officeDocument/2006/relationships/tags" Target="../tags/tag26.xml"/><Relationship Id="rId5" Type="http://schemas.openxmlformats.org/officeDocument/2006/relationships/tags" Target="../tags/tag27.xml"/><Relationship Id="rId6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8.xml"/><Relationship Id="rId3" Type="http://schemas.openxmlformats.org/officeDocument/2006/relationships/tags" Target="../tags/tag29.xml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tags" Target="../tags/tag30.xml"/><Relationship Id="rId4" Type="http://schemas.openxmlformats.org/officeDocument/2006/relationships/tags" Target="../tags/tag31.xml"/><Relationship Id="rId5" Type="http://schemas.openxmlformats.org/officeDocument/2006/relationships/tags" Target="../tags/tag32.xml"/><Relationship Id="rId6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3.xml"/><Relationship Id="rId3" Type="http://schemas.openxmlformats.org/officeDocument/2006/relationships/tags" Target="../tags/tag34.xml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6x9kv-底图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7" name="标题 1"/>
          <p:cNvSpPr>
            <a:spLocks noGrp="1"/>
          </p:cNvSpPr>
          <p:nvPr>
            <p:ph type="ctrTitle" hasCustomPrompt="1"/>
          </p:nvPr>
        </p:nvSpPr>
        <p:spPr>
          <a:xfrm>
            <a:off x="1157605" y="1861820"/>
            <a:ext cx="9876790" cy="175895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6000" b="1" i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单击此处编辑作品名称</a:t>
            </a:r>
            <a:endParaRPr kumimoji="1" lang="zh-CN" altLang="en-US" dirty="0"/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BA00916-396A-A444-B6A6-572F44C753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0B36D65-86F8-1345-A972-51E3FE9D245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文本占位符 9"/>
          <p:cNvSpPr>
            <a:spLocks noGrp="1"/>
          </p:cNvSpPr>
          <p:nvPr>
            <p:ph type="body" sz="quarter" idx="14" hasCustomPrompt="1"/>
          </p:nvPr>
        </p:nvSpPr>
        <p:spPr>
          <a:xfrm>
            <a:off x="5099050" y="4641215"/>
            <a:ext cx="3993515" cy="290195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编辑队伍名称</a:t>
            </a:r>
            <a:r>
              <a:rPr kumimoji="1" lang="en-US" altLang="zh-CN" dirty="0"/>
              <a:t> </a:t>
            </a:r>
            <a:r>
              <a:rPr kumimoji="1" lang="zh-CN" altLang="en-US" dirty="0"/>
              <a:t>禁止出现学校和成员信息</a:t>
            </a:r>
            <a:endParaRPr kumimoji="1" lang="zh-CN" altLang="en-US" dirty="0"/>
          </a:p>
        </p:txBody>
      </p:sp>
      <p:sp>
        <p:nvSpPr>
          <p:cNvPr id="7" name="文本占位符 9"/>
          <p:cNvSpPr>
            <a:spLocks noGrp="1"/>
          </p:cNvSpPr>
          <p:nvPr>
            <p:ph type="body" sz="quarter" idx="20" hasCustomPrompt="1"/>
          </p:nvPr>
        </p:nvSpPr>
        <p:spPr>
          <a:xfrm>
            <a:off x="5099050" y="5077460"/>
            <a:ext cx="3992880" cy="290195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编辑完成日期</a:t>
            </a:r>
            <a:r>
              <a:rPr kumimoji="1" lang="en-US" altLang="zh-CN" dirty="0"/>
              <a:t> </a:t>
            </a:r>
            <a:r>
              <a:rPr kumimoji="1" lang="zh-CN" altLang="en-US" dirty="0">
                <a:sym typeface="+mn-ea"/>
              </a:rPr>
              <a:t>禁止出现学校和成员信息</a:t>
            </a:r>
            <a:endParaRPr kumimoji="1" lang="zh-CN" altLang="en-US" dirty="0"/>
          </a:p>
          <a:p>
            <a:pPr lvl="0"/>
            <a:endParaRPr kumimoji="1" lang="en-US" altLang="zh-CN" dirty="0"/>
          </a:p>
        </p:txBody>
      </p:sp>
      <p:sp>
        <p:nvSpPr>
          <p:cNvPr id="9" name="文本占位符 9"/>
          <p:cNvSpPr>
            <a:spLocks noGrp="1"/>
          </p:cNvSpPr>
          <p:nvPr>
            <p:ph type="body" sz="quarter" idx="22" hasCustomPrompt="1"/>
          </p:nvPr>
        </p:nvSpPr>
        <p:spPr>
          <a:xfrm>
            <a:off x="3937218" y="4640664"/>
            <a:ext cx="1161805" cy="290369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参赛团队：</a:t>
            </a:r>
            <a:endParaRPr kumimoji="1" lang="zh-CN" altLang="en-US" dirty="0"/>
          </a:p>
        </p:txBody>
      </p:sp>
      <p:sp>
        <p:nvSpPr>
          <p:cNvPr id="54" name="文本占位符 9"/>
          <p:cNvSpPr>
            <a:spLocks noGrp="1"/>
          </p:cNvSpPr>
          <p:nvPr>
            <p:ph type="body" sz="quarter" idx="25" hasCustomPrompt="1"/>
          </p:nvPr>
        </p:nvSpPr>
        <p:spPr>
          <a:xfrm>
            <a:off x="3937218" y="5077480"/>
            <a:ext cx="1161805" cy="290371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完成日期：</a:t>
            </a:r>
            <a:endParaRPr kumimoji="1" lang="zh-CN" altLang="en-US" dirty="0"/>
          </a:p>
        </p:txBody>
      </p:sp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0380" y="294640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</a:fld>
            <a:endParaRPr kumimoji="1" lang="zh-CN" altLang="en-US"/>
          </a:p>
        </p:txBody>
      </p:sp>
      <p:grpSp>
        <p:nvGrpSpPr>
          <p:cNvPr id="105" name="组合 104"/>
          <p:cNvGrpSpPr/>
          <p:nvPr userDrawn="1"/>
        </p:nvGrpSpPr>
        <p:grpSpPr>
          <a:xfrm>
            <a:off x="364475" y="2361991"/>
            <a:ext cx="4978706" cy="1729076"/>
            <a:chOff x="342441" y="2221843"/>
            <a:chExt cx="4978706" cy="1729076"/>
          </a:xfrm>
        </p:grpSpPr>
        <p:sp>
          <p:nvSpPr>
            <p:cNvPr id="107" name="标题 1"/>
            <p:cNvSpPr txBox="1"/>
            <p:nvPr userDrawn="1">
              <p:custDataLst>
                <p:tags r:id="rId2"/>
              </p:custDataLst>
            </p:nvPr>
          </p:nvSpPr>
          <p:spPr>
            <a:xfrm>
              <a:off x="1168706" y="3243360"/>
              <a:ext cx="3326176" cy="70755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1" kern="1200">
                  <a:solidFill>
                    <a:schemeClr val="tx2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kumimoji="1" lang="en-US" altLang="zh-CN" sz="4000" dirty="0">
                  <a:solidFill>
                    <a:schemeClr val="tx2">
                      <a:lumMod val="20000"/>
                      <a:lumOff val="80000"/>
                      <a:alpha val="30000"/>
                    </a:schemeClr>
                  </a:solidFill>
                </a:rPr>
                <a:t>CONTENTS</a:t>
              </a:r>
              <a:endParaRPr kumimoji="1" lang="en-US" altLang="zh-CN" sz="4000" dirty="0">
                <a:solidFill>
                  <a:schemeClr val="tx2">
                    <a:lumMod val="20000"/>
                    <a:lumOff val="80000"/>
                    <a:alpha val="30000"/>
                  </a:schemeClr>
                </a:solidFill>
              </a:endParaRPr>
            </a:p>
          </p:txBody>
        </p:sp>
        <p:sp>
          <p:nvSpPr>
            <p:cNvPr id="112" name="标题 1"/>
            <p:cNvSpPr txBox="1"/>
            <p:nvPr userDrawn="1">
              <p:custDataLst>
                <p:tags r:id="rId3"/>
              </p:custDataLst>
            </p:nvPr>
          </p:nvSpPr>
          <p:spPr>
            <a:xfrm>
              <a:off x="342441" y="2221843"/>
              <a:ext cx="4978706" cy="102151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1" kern="1200">
                  <a:solidFill>
                    <a:schemeClr val="tx2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kumimoji="1" lang="zh-CN" altLang="en-US" sz="6600" dirty="0">
                  <a:solidFill>
                    <a:srgbClr val="080A12"/>
                  </a:solidFill>
                </a:rPr>
                <a:t>目录</a:t>
              </a:r>
              <a:endParaRPr kumimoji="1" lang="zh-CN" altLang="en-US" sz="6600" dirty="0">
                <a:solidFill>
                  <a:srgbClr val="080A12"/>
                </a:solidFill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6x9kv-底图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8" name="标题 1"/>
          <p:cNvSpPr txBox="1"/>
          <p:nvPr userDrawn="1"/>
        </p:nvSpPr>
        <p:spPr>
          <a:xfrm>
            <a:off x="2316480" y="2591380"/>
            <a:ext cx="2661920" cy="838835"/>
          </a:xfrm>
          <a:prstGeom prst="rect">
            <a:avLst/>
          </a:prstGeom>
          <a:noFill/>
        </p:spPr>
        <p:txBody>
          <a:bodyPr vert="horz" wrap="square" lIns="90000" tIns="45720" rIns="91440" bIns="4572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kumimoji="1" lang="en-US" altLang="zh-CN" sz="5400" b="1" cap="none" spc="0" dirty="0">
                <a:ln w="6600">
                  <a:noFill/>
                  <a:prstDash val="solid"/>
                </a:ln>
                <a:solidFill>
                  <a:schemeClr val="bg1"/>
                </a:solidFill>
                <a:effectLst/>
              </a:rPr>
              <a:t>Part 01</a:t>
            </a:r>
            <a:endParaRPr kumimoji="1" lang="en-US" altLang="zh-CN" sz="5400" b="1" cap="none" spc="0" dirty="0">
              <a:ln w="6600">
                <a:noFill/>
                <a:prstDash val="solid"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29" name="文本占位符 17"/>
          <p:cNvSpPr>
            <a:spLocks noGrp="1"/>
          </p:cNvSpPr>
          <p:nvPr>
            <p:ph type="body" sz="quarter" idx="13" hasCustomPrompt="1"/>
          </p:nvPr>
        </p:nvSpPr>
        <p:spPr>
          <a:xfrm>
            <a:off x="5192421" y="2453241"/>
            <a:ext cx="4304799" cy="1115113"/>
          </a:xfrm>
        </p:spPr>
        <p:txBody>
          <a:bodyPr lIns="90000" anchor="ctr">
            <a:noAutofit/>
          </a:bodyPr>
          <a:lstStyle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zh-CN" altLang="en-US" dirty="0"/>
              <a:t>项目介绍</a:t>
            </a:r>
            <a:endParaRPr kumimoji="1" lang="zh-CN" altLang="en-US" dirty="0"/>
          </a:p>
        </p:txBody>
      </p:sp>
      <p:sp>
        <p:nvSpPr>
          <p:cNvPr id="42" name="文本占位符 41"/>
          <p:cNvSpPr>
            <a:spLocks noGrp="1"/>
          </p:cNvSpPr>
          <p:nvPr>
            <p:ph type="body" sz="quarter" idx="14" hasCustomPrompt="1"/>
          </p:nvPr>
        </p:nvSpPr>
        <p:spPr>
          <a:xfrm>
            <a:off x="2330450" y="3770630"/>
            <a:ext cx="7531100" cy="972185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单击编辑文本，文字是您思想的提炼，为了最终演示的良好效果，请尽量言简意赅的阐述观点</a:t>
            </a:r>
            <a:endParaRPr kumimoji="1" lang="zh-CN" altLang="en-US" dirty="0"/>
          </a:p>
        </p:txBody>
      </p:sp>
      <p:pic>
        <p:nvPicPr>
          <p:cNvPr id="7" name="图片 6" descr="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0380" y="294640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en-US" altLang="zh-CN" dirty="0"/>
              <a:t>1.1 </a:t>
            </a:r>
            <a:r>
              <a:rPr lang="zh-CN" altLang="en-US" dirty="0"/>
              <a:t>设计背景</a:t>
            </a:r>
            <a:endParaRPr lang="zh-CN" altLang="en-US" dirty="0"/>
          </a:p>
        </p:txBody>
      </p:sp>
      <p:sp>
        <p:nvSpPr>
          <p:cNvPr id="8" name="任意多边形 7"/>
          <p:cNvSpPr/>
          <p:nvPr userDrawn="1">
            <p:custDataLst>
              <p:tags r:id="rId3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1.2 </a:t>
            </a:r>
            <a:r>
              <a:rPr lang="zh-CN" altLang="en-US" dirty="0"/>
              <a:t>设计目标</a:t>
            </a:r>
            <a:endParaRPr lang="zh-CN" altLang="en-US" dirty="0"/>
          </a:p>
        </p:txBody>
      </p:sp>
      <p:sp>
        <p:nvSpPr>
          <p:cNvPr id="10" name="任意多边形 9"/>
          <p:cNvSpPr/>
          <p:nvPr userDrawn="1">
            <p:custDataLst>
              <p:tags r:id="rId3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1.3 </a:t>
            </a:r>
            <a:r>
              <a:rPr lang="zh-CN" altLang="en-US" dirty="0"/>
              <a:t>设计简介</a:t>
            </a:r>
            <a:endParaRPr lang="zh-CN" altLang="en-US" dirty="0"/>
          </a:p>
        </p:txBody>
      </p:sp>
      <p:sp>
        <p:nvSpPr>
          <p:cNvPr id="10" name="任意多边形 9"/>
          <p:cNvSpPr/>
          <p:nvPr userDrawn="1">
            <p:custDataLst>
              <p:tags r:id="rId3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1.4 </a:t>
            </a:r>
            <a:r>
              <a:rPr lang="zh-CN" altLang="en-US" dirty="0"/>
              <a:t>作品原创性情况说明</a:t>
            </a:r>
            <a:endParaRPr lang="zh-CN" altLang="en-US" dirty="0"/>
          </a:p>
        </p:txBody>
      </p:sp>
      <p:sp>
        <p:nvSpPr>
          <p:cNvPr id="10" name="任意多边形 9"/>
          <p:cNvSpPr/>
          <p:nvPr userDrawn="1">
            <p:custDataLst>
              <p:tags r:id="rId3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6x9kv-底图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4" name="标题 1"/>
          <p:cNvSpPr txBox="1"/>
          <p:nvPr userDrawn="1">
            <p:custDataLst>
              <p:tags r:id="rId3"/>
            </p:custDataLst>
          </p:nvPr>
        </p:nvSpPr>
        <p:spPr>
          <a:xfrm>
            <a:off x="2316480" y="2591380"/>
            <a:ext cx="2661920" cy="838835"/>
          </a:xfrm>
          <a:prstGeom prst="rect">
            <a:avLst/>
          </a:prstGeom>
          <a:noFill/>
        </p:spPr>
        <p:txBody>
          <a:bodyPr vert="horz" wrap="square" lIns="90000" tIns="45720" rIns="91440" bIns="4572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kumimoji="1" lang="en-US" altLang="zh-CN" sz="5400" b="1" cap="none" spc="0" dirty="0">
                <a:ln w="6600">
                  <a:noFill/>
                  <a:prstDash val="solid"/>
                </a:ln>
                <a:solidFill>
                  <a:schemeClr val="bg1"/>
                </a:solidFill>
                <a:effectLst/>
              </a:rPr>
              <a:t>Part 02</a:t>
            </a:r>
            <a:endParaRPr kumimoji="1" lang="en-US" altLang="zh-CN" sz="5400" b="1" cap="none" spc="0" dirty="0">
              <a:ln w="6600">
                <a:noFill/>
                <a:prstDash val="solid"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192421" y="2453241"/>
            <a:ext cx="4304799" cy="1115113"/>
          </a:xfrm>
        </p:spPr>
        <p:txBody>
          <a:bodyPr lIns="90000" anchor="ctr">
            <a:noAutofit/>
          </a:bodyPr>
          <a:lstStyle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zh-CN" altLang="en-US" dirty="0"/>
              <a:t>项目亮点</a:t>
            </a:r>
            <a:endParaRPr kumimoji="1"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  <p:custDataLst>
              <p:tags r:id="rId5"/>
            </p:custDataLst>
          </p:nvPr>
        </p:nvSpPr>
        <p:spPr>
          <a:xfrm>
            <a:off x="2330450" y="3770630"/>
            <a:ext cx="7531100" cy="972185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单击编辑文本，文字是您思想的提炼，为了最终演示的良好效果，请尽量言简意赅的阐述观点</a:t>
            </a:r>
            <a:endParaRPr kumimoji="1" lang="zh-CN" altLang="en-US" dirty="0"/>
          </a:p>
        </p:txBody>
      </p:sp>
      <p:pic>
        <p:nvPicPr>
          <p:cNvPr id="7" name="图片 6" descr="logo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00380" y="294640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2.1 </a:t>
            </a:r>
            <a:r>
              <a:rPr lang="zh-CN" altLang="en-US" dirty="0"/>
              <a:t>功能亮点</a:t>
            </a:r>
            <a:endParaRPr lang="zh-CN" altLang="en-US" dirty="0"/>
          </a:p>
        </p:txBody>
      </p:sp>
      <p:sp>
        <p:nvSpPr>
          <p:cNvPr id="10" name="任意多边形 9"/>
          <p:cNvSpPr/>
          <p:nvPr userDrawn="1">
            <p:custDataLst>
              <p:tags r:id="rId3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2.2 XX</a:t>
            </a:r>
            <a:r>
              <a:rPr lang="zh-CN" altLang="en-US" dirty="0"/>
              <a:t>亮点</a:t>
            </a:r>
            <a:endParaRPr lang="zh-CN" altLang="en-US" dirty="0"/>
          </a:p>
        </p:txBody>
      </p:sp>
      <p:sp>
        <p:nvSpPr>
          <p:cNvPr id="10" name="任意多边形 9"/>
          <p:cNvSpPr/>
          <p:nvPr userDrawn="1">
            <p:custDataLst>
              <p:tags r:id="rId3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6x9kv-底图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标题 1"/>
          <p:cNvSpPr txBox="1"/>
          <p:nvPr userDrawn="1">
            <p:custDataLst>
              <p:tags r:id="rId3"/>
            </p:custDataLst>
          </p:nvPr>
        </p:nvSpPr>
        <p:spPr>
          <a:xfrm>
            <a:off x="2316480" y="2591380"/>
            <a:ext cx="2661920" cy="838835"/>
          </a:xfrm>
          <a:prstGeom prst="rect">
            <a:avLst/>
          </a:prstGeom>
          <a:noFill/>
        </p:spPr>
        <p:txBody>
          <a:bodyPr vert="horz" wrap="square" lIns="90000" tIns="45720" rIns="91440" bIns="4572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kumimoji="1" lang="en-US" altLang="zh-CN" sz="5400" b="1" cap="none" spc="0" dirty="0">
                <a:ln w="6600">
                  <a:noFill/>
                  <a:prstDash val="solid"/>
                </a:ln>
                <a:solidFill>
                  <a:schemeClr val="bg1"/>
                </a:solidFill>
                <a:effectLst/>
              </a:rPr>
              <a:t>Part 03</a:t>
            </a:r>
            <a:endParaRPr kumimoji="1" lang="en-US" altLang="zh-CN" sz="5400" b="1" cap="none" spc="0" dirty="0">
              <a:ln w="6600">
                <a:noFill/>
                <a:prstDash val="solid"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16" name="文本占位符 17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192421" y="2453241"/>
            <a:ext cx="4304799" cy="1115113"/>
          </a:xfrm>
        </p:spPr>
        <p:txBody>
          <a:bodyPr lIns="90000" anchor="ctr">
            <a:noAutofit/>
          </a:bodyPr>
          <a:lstStyle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zh-CN" altLang="en-US" dirty="0"/>
              <a:t>技术难点</a:t>
            </a:r>
            <a:endParaRPr kumimoji="1"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  <p:custDataLst>
              <p:tags r:id="rId5"/>
            </p:custDataLst>
          </p:nvPr>
        </p:nvSpPr>
        <p:spPr>
          <a:xfrm>
            <a:off x="2330450" y="3770630"/>
            <a:ext cx="7531100" cy="972185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单击编辑文本，文字是您思想的提炼，为了最终演示的良好效果，请尽量言简意赅的阐述观点</a:t>
            </a:r>
            <a:endParaRPr kumimoji="1" lang="zh-CN" altLang="en-US" dirty="0"/>
          </a:p>
        </p:txBody>
      </p:sp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00380" y="294640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3.1</a:t>
            </a:r>
            <a:endParaRPr lang="zh-CN" altLang="en-US" dirty="0"/>
          </a:p>
        </p:txBody>
      </p:sp>
      <p:sp>
        <p:nvSpPr>
          <p:cNvPr id="10" name="任意多边形 9"/>
          <p:cNvSpPr/>
          <p:nvPr userDrawn="1">
            <p:custDataLst>
              <p:tags r:id="rId3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3.2</a:t>
            </a:r>
            <a:endParaRPr lang="zh-CN" altLang="en-US" dirty="0"/>
          </a:p>
        </p:txBody>
      </p:sp>
      <p:sp>
        <p:nvSpPr>
          <p:cNvPr id="10" name="任意多边形 9"/>
          <p:cNvSpPr/>
          <p:nvPr userDrawn="1">
            <p:custDataLst>
              <p:tags r:id="rId3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6x9kv-底图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标题 1"/>
          <p:cNvSpPr txBox="1"/>
          <p:nvPr userDrawn="1">
            <p:custDataLst>
              <p:tags r:id="rId3"/>
            </p:custDataLst>
          </p:nvPr>
        </p:nvSpPr>
        <p:spPr>
          <a:xfrm>
            <a:off x="2316480" y="2591380"/>
            <a:ext cx="2661920" cy="838835"/>
          </a:xfrm>
          <a:prstGeom prst="rect">
            <a:avLst/>
          </a:prstGeom>
          <a:noFill/>
        </p:spPr>
        <p:txBody>
          <a:bodyPr vert="horz" wrap="square" lIns="90000" tIns="45720" rIns="91440" bIns="4572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kumimoji="1" lang="en-US" altLang="zh-CN" sz="5400" b="1" cap="none" spc="0" dirty="0">
                <a:ln w="6600">
                  <a:noFill/>
                  <a:prstDash val="solid"/>
                </a:ln>
                <a:solidFill>
                  <a:schemeClr val="bg1"/>
                </a:solidFill>
                <a:effectLst/>
              </a:rPr>
              <a:t>Part 04</a:t>
            </a:r>
            <a:endParaRPr kumimoji="1" lang="en-US" altLang="zh-CN" sz="5400" b="1" cap="none" spc="0" dirty="0">
              <a:ln w="6600">
                <a:noFill/>
                <a:prstDash val="solid"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16" name="文本占位符 17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192421" y="2453241"/>
            <a:ext cx="4304799" cy="1115113"/>
          </a:xfrm>
        </p:spPr>
        <p:txBody>
          <a:bodyPr lIns="90000" anchor="ctr">
            <a:noAutofit/>
          </a:bodyPr>
          <a:lstStyle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zh-CN" altLang="en-US" dirty="0"/>
              <a:t>项目测试</a:t>
            </a:r>
            <a:endParaRPr kumimoji="1"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  <p:custDataLst>
              <p:tags r:id="rId5"/>
            </p:custDataLst>
          </p:nvPr>
        </p:nvSpPr>
        <p:spPr>
          <a:xfrm>
            <a:off x="2330450" y="3770630"/>
            <a:ext cx="7531100" cy="972185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单击编辑文本，文字是您思想的提炼，为了最终演示的良好效果，请尽量言简意赅的阐述观点</a:t>
            </a:r>
            <a:endParaRPr kumimoji="1" lang="zh-CN" altLang="en-US" dirty="0"/>
          </a:p>
        </p:txBody>
      </p:sp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00380" y="294640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4.1 </a:t>
            </a:r>
            <a:r>
              <a:rPr lang="zh-CN" altLang="en-US" dirty="0"/>
              <a:t>项目测试结果说明</a:t>
            </a:r>
            <a:endParaRPr lang="zh-CN" altLang="en-US" dirty="0"/>
          </a:p>
        </p:txBody>
      </p:sp>
      <p:sp>
        <p:nvSpPr>
          <p:cNvPr id="10" name="任意多边形 9"/>
          <p:cNvSpPr/>
          <p:nvPr userDrawn="1">
            <p:custDataLst>
              <p:tags r:id="rId3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6x9kv-底图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5" name="标题 1"/>
          <p:cNvSpPr txBox="1"/>
          <p:nvPr userDrawn="1">
            <p:custDataLst>
              <p:tags r:id="rId3"/>
            </p:custDataLst>
          </p:nvPr>
        </p:nvSpPr>
        <p:spPr>
          <a:xfrm>
            <a:off x="2316480" y="2591380"/>
            <a:ext cx="2661920" cy="838835"/>
          </a:xfrm>
          <a:prstGeom prst="rect">
            <a:avLst/>
          </a:prstGeom>
          <a:noFill/>
        </p:spPr>
        <p:txBody>
          <a:bodyPr vert="horz" wrap="square" lIns="90000" tIns="45720" rIns="91440" bIns="4572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kumimoji="1" lang="en-US" altLang="zh-CN" sz="5400" b="1" cap="none" spc="0" dirty="0">
                <a:ln w="6600">
                  <a:noFill/>
                  <a:prstDash val="solid"/>
                </a:ln>
                <a:solidFill>
                  <a:schemeClr val="bg1"/>
                </a:solidFill>
                <a:effectLst/>
              </a:rPr>
              <a:t>Part 05</a:t>
            </a:r>
            <a:endParaRPr kumimoji="1" lang="en-US" altLang="zh-CN" sz="5400" b="1" cap="none" spc="0" dirty="0">
              <a:ln w="6600">
                <a:noFill/>
                <a:prstDash val="solid"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16" name="文本占位符 17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192421" y="2453241"/>
            <a:ext cx="4304799" cy="1115113"/>
          </a:xfrm>
        </p:spPr>
        <p:txBody>
          <a:bodyPr lIns="90000" anchor="ctr">
            <a:noAutofit/>
          </a:bodyPr>
          <a:lstStyle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zh-CN" altLang="en-US" dirty="0"/>
              <a:t>作品演示</a:t>
            </a:r>
            <a:endParaRPr kumimoji="1"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  <p:custDataLst>
              <p:tags r:id="rId5"/>
            </p:custDataLst>
          </p:nvPr>
        </p:nvSpPr>
        <p:spPr>
          <a:xfrm>
            <a:off x="2330450" y="3770630"/>
            <a:ext cx="7531100" cy="972185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单击编辑文本，文字是您思想的提炼，为了最终演示的良好效果，请尽量言简意赅的阐述观点</a:t>
            </a:r>
            <a:endParaRPr kumimoji="1" lang="zh-CN" altLang="en-US" dirty="0"/>
          </a:p>
        </p:txBody>
      </p:sp>
      <p:pic>
        <p:nvPicPr>
          <p:cNvPr id="7" name="图片 6" descr="logo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00380" y="294640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媒体占位符 5"/>
          <p:cNvSpPr>
            <a:spLocks noGrp="1"/>
          </p:cNvSpPr>
          <p:nvPr>
            <p:ph type="media" sz="quarter" idx="15"/>
          </p:nvPr>
        </p:nvSpPr>
        <p:spPr>
          <a:xfrm>
            <a:off x="529218" y="1419861"/>
            <a:ext cx="11133563" cy="4648052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</a:lstStyle>
          <a:p>
            <a:endParaRPr kumimoji="1"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5.1 </a:t>
            </a:r>
            <a:r>
              <a:rPr lang="zh-CN" altLang="en-US" dirty="0"/>
              <a:t>作品演示播放</a:t>
            </a:r>
            <a:endParaRPr lang="zh-CN" altLang="en-US" dirty="0"/>
          </a:p>
        </p:txBody>
      </p:sp>
      <p:sp>
        <p:nvSpPr>
          <p:cNvPr id="10" name="任意多边形 9"/>
          <p:cNvSpPr/>
          <p:nvPr userDrawn="1">
            <p:custDataLst>
              <p:tags r:id="rId3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6x9kv-底图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7" name="标题 1"/>
          <p:cNvSpPr>
            <a:spLocks noGrp="1"/>
          </p:cNvSpPr>
          <p:nvPr>
            <p:ph type="ctrTitle" hasCustomPrompt="1"/>
          </p:nvPr>
        </p:nvSpPr>
        <p:spPr>
          <a:xfrm>
            <a:off x="1157605" y="1861820"/>
            <a:ext cx="9876790" cy="175895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6000" b="1" i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单击此处编辑结束语</a:t>
            </a:r>
            <a:endParaRPr kumimoji="1" lang="zh-CN" altLang="en-US" dirty="0"/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BA00916-396A-A444-B6A6-572F44C753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0B36D65-86F8-1345-A972-51E3FE9D245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文本占位符 9"/>
          <p:cNvSpPr>
            <a:spLocks noGrp="1"/>
          </p:cNvSpPr>
          <p:nvPr>
            <p:ph type="body" sz="quarter" idx="14" hasCustomPrompt="1"/>
          </p:nvPr>
        </p:nvSpPr>
        <p:spPr>
          <a:xfrm>
            <a:off x="5099050" y="4641215"/>
            <a:ext cx="3866515" cy="290195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编辑队伍名称</a:t>
            </a:r>
            <a:r>
              <a:rPr kumimoji="1" lang="en-US" altLang="zh-CN" dirty="0"/>
              <a:t> </a:t>
            </a:r>
            <a:r>
              <a:rPr kumimoji="1" lang="zh-CN" altLang="en-US" dirty="0">
                <a:sym typeface="+mn-ea"/>
              </a:rPr>
              <a:t>禁止出现学校和成员信息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  <p:sp>
        <p:nvSpPr>
          <p:cNvPr id="7" name="文本占位符 9"/>
          <p:cNvSpPr>
            <a:spLocks noGrp="1"/>
          </p:cNvSpPr>
          <p:nvPr>
            <p:ph type="body" sz="quarter" idx="20" hasCustomPrompt="1"/>
          </p:nvPr>
        </p:nvSpPr>
        <p:spPr>
          <a:xfrm>
            <a:off x="5099050" y="5077460"/>
            <a:ext cx="3866515" cy="290195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编辑完成日期</a:t>
            </a:r>
            <a:r>
              <a:rPr kumimoji="1" lang="en-US" altLang="zh-CN" dirty="0"/>
              <a:t> </a:t>
            </a:r>
            <a:r>
              <a:rPr kumimoji="1" lang="zh-CN" altLang="en-US" dirty="0">
                <a:sym typeface="+mn-ea"/>
              </a:rPr>
              <a:t>禁止出现学校和成员信息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  <p:sp>
        <p:nvSpPr>
          <p:cNvPr id="9" name="文本占位符 9"/>
          <p:cNvSpPr>
            <a:spLocks noGrp="1"/>
          </p:cNvSpPr>
          <p:nvPr>
            <p:ph type="body" sz="quarter" idx="22" hasCustomPrompt="1"/>
          </p:nvPr>
        </p:nvSpPr>
        <p:spPr>
          <a:xfrm>
            <a:off x="3937218" y="4640664"/>
            <a:ext cx="1161805" cy="290369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参赛团队：</a:t>
            </a:r>
            <a:endParaRPr kumimoji="1" lang="zh-CN" altLang="en-US" dirty="0"/>
          </a:p>
        </p:txBody>
      </p:sp>
      <p:sp>
        <p:nvSpPr>
          <p:cNvPr id="54" name="文本占位符 9"/>
          <p:cNvSpPr>
            <a:spLocks noGrp="1"/>
          </p:cNvSpPr>
          <p:nvPr>
            <p:ph type="body" sz="quarter" idx="25" hasCustomPrompt="1"/>
          </p:nvPr>
        </p:nvSpPr>
        <p:spPr>
          <a:xfrm>
            <a:off x="3937218" y="5077480"/>
            <a:ext cx="1161805" cy="290371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完成日期：</a:t>
            </a:r>
            <a:endParaRPr kumimoji="1" lang="zh-CN" altLang="en-US" dirty="0"/>
          </a:p>
        </p:txBody>
      </p:sp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0380" y="294640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00916-396A-A444-B6A6-572F44C753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B36D65-86F8-1345-A972-51E3FE9D245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tags" Target="../tags/tag36.xml"/><Relationship Id="rId3" Type="http://schemas.openxmlformats.org/officeDocument/2006/relationships/tags" Target="../tags/tag37.xml"/><Relationship Id="rId4" Type="http://schemas.openxmlformats.org/officeDocument/2006/relationships/tags" Target="../tags/tag38.xml"/><Relationship Id="rId5" Type="http://schemas.openxmlformats.org/officeDocument/2006/relationships/tags" Target="../tags/tag39.xml"/><Relationship Id="rId6" Type="http://schemas.openxmlformats.org/officeDocument/2006/relationships/tags" Target="../tags/tag40.xml"/><Relationship Id="rId7" Type="http://schemas.openxmlformats.org/officeDocument/2006/relationships/tags" Target="../tags/tag41.xml"/><Relationship Id="rId8" Type="http://schemas.openxmlformats.org/officeDocument/2006/relationships/tags" Target="../tags/tag42.xml"/><Relationship Id="rId9" Type="http://schemas.openxmlformats.org/officeDocument/2006/relationships/tags" Target="../tags/tag43.xml"/><Relationship Id="rId10" Type="http://schemas.openxmlformats.org/officeDocument/2006/relationships/tags" Target="../tags/tag44.xml"/><Relationship Id="rId11" Type="http://schemas.openxmlformats.org/officeDocument/2006/relationships/tags" Target="../tags/tag45.xml"/><Relationship Id="rId12" Type="http://schemas.openxmlformats.org/officeDocument/2006/relationships/tags" Target="../tags/tag46.xml"/><Relationship Id="rId13" Type="http://schemas.openxmlformats.org/officeDocument/2006/relationships/tags" Target="../tags/tag47.xml"/><Relationship Id="rId14" Type="http://schemas.openxmlformats.org/officeDocument/2006/relationships/tags" Target="../tags/tag48.xml"/><Relationship Id="rId15" Type="http://schemas.openxmlformats.org/officeDocument/2006/relationships/tags" Target="../tags/tag49.xml"/><Relationship Id="rId16" Type="http://schemas.openxmlformats.org/officeDocument/2006/relationships/tags" Target="../tags/tag50.xml"/><Relationship Id="rId17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tags" Target="../tags/tag51.xml"/><Relationship Id="rId3" Type="http://schemas.openxmlformats.org/officeDocument/2006/relationships/tags" Target="../tags/tag52.xml"/><Relationship Id="rId4" Type="http://schemas.openxmlformats.org/officeDocument/2006/relationships/tags" Target="../tags/tag53.xml"/><Relationship Id="rId5" Type="http://schemas.openxmlformats.org/officeDocument/2006/relationships/tags" Target="../tags/tag54.xml"/><Relationship Id="rId6" Type="http://schemas.openxmlformats.org/officeDocument/2006/relationships/tags" Target="../tags/tag55.xml"/><Relationship Id="rId7" Type="http://schemas.openxmlformats.org/officeDocument/2006/relationships/tags" Target="../tags/tag56.xml"/><Relationship Id="rId8" Type="http://schemas.openxmlformats.org/officeDocument/2006/relationships/tags" Target="../tags/tag57.xml"/><Relationship Id="rId9" Type="http://schemas.openxmlformats.org/officeDocument/2006/relationships/tags" Target="../tags/tag58.xml"/><Relationship Id="rId10" Type="http://schemas.openxmlformats.org/officeDocument/2006/relationships/tags" Target="../tags/tag59.xml"/><Relationship Id="rId11" Type="http://schemas.openxmlformats.org/officeDocument/2006/relationships/image" Target="../media/image5.png"/><Relationship Id="rId12" Type="http://schemas.openxmlformats.org/officeDocument/2006/relationships/slideLayout" Target="../slideLayouts/slideLayout1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7.png"/><Relationship Id="rId3" Type="http://schemas.openxmlformats.org/officeDocument/2006/relationships/tags" Target="../tags/tag60.xml"/><Relationship Id="rId4" Type="http://schemas.openxmlformats.org/officeDocument/2006/relationships/slideLayout" Target="../slideLayouts/slideLayout17.xml"/><Relationship Id="rId5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tags" Target="../tags/tag61.xml"/><Relationship Id="rId3" Type="http://schemas.openxmlformats.org/officeDocument/2006/relationships/tags" Target="../tags/tag62.xml"/><Relationship Id="rId4" Type="http://schemas.openxmlformats.org/officeDocument/2006/relationships/tags" Target="../tags/tag63.xml"/><Relationship Id="rId5" Type="http://schemas.openxmlformats.org/officeDocument/2006/relationships/tags" Target="../tags/tag64.xml"/><Relationship Id="rId6" Type="http://schemas.openxmlformats.org/officeDocument/2006/relationships/tags" Target="../tags/tag65.xml"/><Relationship Id="rId7" Type="http://schemas.openxmlformats.org/officeDocument/2006/relationships/tags" Target="../tags/tag66.xml"/><Relationship Id="rId8" Type="http://schemas.openxmlformats.org/officeDocument/2006/relationships/tags" Target="../tags/tag67.xml"/><Relationship Id="rId9" Type="http://schemas.openxmlformats.org/officeDocument/2006/relationships/tags" Target="../tags/tag68.xml"/><Relationship Id="rId10" Type="http://schemas.openxmlformats.org/officeDocument/2006/relationships/tags" Target="../tags/tag69.xml"/><Relationship Id="rId11" Type="http://schemas.openxmlformats.org/officeDocument/2006/relationships/tags" Target="../tags/tag70.xml"/><Relationship Id="rId12" Type="http://schemas.openxmlformats.org/officeDocument/2006/relationships/tags" Target="../tags/tag71.xml"/><Relationship Id="rId13" Type="http://schemas.openxmlformats.org/officeDocument/2006/relationships/tags" Target="../tags/tag72.xml"/><Relationship Id="rId14" Type="http://schemas.openxmlformats.org/officeDocument/2006/relationships/tags" Target="../tags/tag73.xml"/><Relationship Id="rId15" Type="http://schemas.openxmlformats.org/officeDocument/2006/relationships/tags" Target="../tags/tag74.xml"/><Relationship Id="rId16" Type="http://schemas.openxmlformats.org/officeDocument/2006/relationships/tags" Target="../tags/tag75.xml"/><Relationship Id="rId17" Type="http://schemas.openxmlformats.org/officeDocument/2006/relationships/tags" Target="../tags/tag76.xml"/><Relationship Id="rId18" Type="http://schemas.openxmlformats.org/officeDocument/2006/relationships/tags" Target="../tags/tag77.xml"/><Relationship Id="rId19" Type="http://schemas.openxmlformats.org/officeDocument/2006/relationships/tags" Target="../tags/tag78.xml"/><Relationship Id="rId20" Type="http://schemas.openxmlformats.org/officeDocument/2006/relationships/tags" Target="../tags/tag79.xml"/><Relationship Id="rId21" Type="http://schemas.openxmlformats.org/officeDocument/2006/relationships/tags" Target="../tags/tag80.xml"/><Relationship Id="rId22" Type="http://schemas.openxmlformats.org/officeDocument/2006/relationships/tags" Target="../tags/tag81.xml"/><Relationship Id="rId23" Type="http://schemas.openxmlformats.org/officeDocument/2006/relationships/tags" Target="../tags/tag82.xml"/><Relationship Id="rId24" Type="http://schemas.openxmlformats.org/officeDocument/2006/relationships/tags" Target="../tags/tag83.xml"/><Relationship Id="rId25" Type="http://schemas.openxmlformats.org/officeDocument/2006/relationships/tags" Target="../tags/tag84.xml"/><Relationship Id="rId26" Type="http://schemas.openxmlformats.org/officeDocument/2006/relationships/tags" Target="../tags/tag85.xml"/><Relationship Id="rId27" Type="http://schemas.openxmlformats.org/officeDocument/2006/relationships/tags" Target="../tags/tag86.xml"/><Relationship Id="rId28" Type="http://schemas.openxmlformats.org/officeDocument/2006/relationships/tags" Target="../tags/tag87.xml"/><Relationship Id="rId29" Type="http://schemas.openxmlformats.org/officeDocument/2006/relationships/tags" Target="../tags/tag88.xml"/><Relationship Id="rId30" Type="http://schemas.openxmlformats.org/officeDocument/2006/relationships/slideLayout" Target="../slideLayouts/slideLayout17.xml"/><Relationship Id="rId31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video" Target="../media/media1.mp4"/><Relationship Id="rId3" Type="http://schemas.microsoft.com/office/2007/relationships/media" Target="../media/media1.mp4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tags" Target="../tags/tag89.xml"/><Relationship Id="rId3" Type="http://schemas.openxmlformats.org/officeDocument/2006/relationships/tags" Target="../tags/tag90.xml"/><Relationship Id="rId4" Type="http://schemas.openxmlformats.org/officeDocument/2006/relationships/tags" Target="../tags/tag91.xml"/><Relationship Id="rId5" Type="http://schemas.openxmlformats.org/officeDocument/2006/relationships/tags" Target="../tags/tag92.xml"/><Relationship Id="rId6" Type="http://schemas.openxmlformats.org/officeDocument/2006/relationships/tags" Target="../tags/tag93.xml"/><Relationship Id="rId7" Type="http://schemas.openxmlformats.org/officeDocument/2006/relationships/tags" Target="../tags/tag94.xml"/><Relationship Id="rId8" Type="http://schemas.openxmlformats.org/officeDocument/2006/relationships/tags" Target="../tags/tag95.xml"/><Relationship Id="rId9" Type="http://schemas.openxmlformats.org/officeDocument/2006/relationships/tags" Target="../tags/tag96.xml"/><Relationship Id="rId10" Type="http://schemas.openxmlformats.org/officeDocument/2006/relationships/tags" Target="../tags/tag97.xml"/><Relationship Id="rId11" Type="http://schemas.openxmlformats.org/officeDocument/2006/relationships/slideLayout" Target="../slideLayouts/slideLayout1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98.xml"/><Relationship Id="rId2" Type="http://schemas.openxmlformats.org/officeDocument/2006/relationships/slideLayout" Target="../slideLayouts/slideLayout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video" Target="../media/media2.mp4"/><Relationship Id="rId3" Type="http://schemas.microsoft.com/office/2007/relationships/media" Target="../media/media2.mp4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43"/>
          <p:cNvSpPr>
            <a:spLocks noGrp="1"/>
          </p:cNvSpPr>
          <p:nvPr>
            <p:ph type="ctrTitle"/>
          </p:nvPr>
        </p:nvSpPr>
        <p:spPr>
          <a:xfrm>
            <a:off x="1157605" y="1861820"/>
            <a:ext cx="9876790" cy="1758950"/>
          </a:xfrm>
        </p:spPr>
        <p:txBody>
          <a:bodyPr/>
          <a:lstStyle/>
          <a:p>
            <a:r>
              <a:rPr lang="en-US" altLang="zh-CN" sz="4000">
                <a:sym typeface="+mn-ea"/>
              </a:rPr>
              <a:t>INFERSCHED：</a:t>
            </a:r>
            <a:r>
              <a:rPr lang="x-none" altLang="zh-CN" sz="4000">
                <a:sym typeface="+mn-ea"/>
              </a:rPr>
              <a:t>基于相</a:t>
            </a:r>
            <a:r>
              <a:rPr lang="zh-CN" altLang="en-US" sz="4000">
                <a:sym typeface="+mn-ea"/>
              </a:rPr>
              <a:t>位</a:t>
            </a:r>
            <a:r>
              <a:rPr lang="x-none" altLang="zh-CN" sz="4000">
                <a:sym typeface="+mn-ea"/>
              </a:rPr>
              <a:t>协同的大</a:t>
            </a:r>
            <a:r>
              <a:rPr lang="zh-CN" altLang="en-US" sz="4000">
                <a:sym typeface="+mn-ea"/>
              </a:rPr>
              <a:t>模型推理内核调度框架</a:t>
            </a:r>
            <a:br>
              <a:rPr lang="zh-CN" altLang="en-US" sz="4000"/>
            </a:br>
            <a:r>
              <a:rPr lang="zh-CN" altLang="en-US" sz="2000"/>
              <a:t>赛题：系统创新-面向 </a:t>
            </a:r>
            <a:r>
              <a:rPr lang="en-US" altLang="zh-CN" sz="2000"/>
              <a:t>RISC-V Vector </a:t>
            </a:r>
            <a:r>
              <a:rPr lang="zh-CN" altLang="en-US" sz="2000"/>
              <a:t>扩展的大语言模型推理并发调度优化</a:t>
            </a:r>
            <a:endParaRPr lang="zh-CN" altLang="en-US" sz="2000"/>
          </a:p>
        </p:txBody>
      </p:sp>
      <p:sp>
        <p:nvSpPr>
          <p:cNvPr id="14" name="文本占位符 45"/>
          <p:cNvSpPr>
            <a:spLocks noGrp="1"/>
          </p:cNvSpPr>
          <p:nvPr>
            <p:ph type="body" sz="quarter" idx="14"/>
          </p:nvPr>
        </p:nvSpPr>
        <p:spPr>
          <a:xfrm>
            <a:off x="5099050" y="4639945"/>
            <a:ext cx="3971290" cy="290195"/>
          </a:xfrm>
        </p:spPr>
        <p:txBody>
          <a:bodyPr/>
          <a:lstStyle/>
          <a:p>
            <a:r>
              <a:rPr lang="zh-CN" altLang="en-US"/>
              <a:t>锐</a:t>
            </a:r>
            <a:r>
              <a:rPr lang="en-US" altLang="zh-CN"/>
              <a:t>s</a:t>
            </a:r>
            <a:r>
              <a:rPr lang="zh-CN" altLang="en-US"/>
              <a:t>刻五代</a:t>
            </a:r>
            <a:endParaRPr lang="zh-CN" altLang="en-US"/>
          </a:p>
        </p:txBody>
      </p:sp>
      <p:sp>
        <p:nvSpPr>
          <p:cNvPr id="15" name="文本占位符 48"/>
          <p:cNvSpPr>
            <a:spLocks noGrp="1"/>
          </p:cNvSpPr>
          <p:nvPr>
            <p:ph type="body" sz="quarter" idx="20"/>
          </p:nvPr>
        </p:nvSpPr>
        <p:spPr>
          <a:xfrm>
            <a:off x="5099050" y="5077460"/>
            <a:ext cx="3997960" cy="290195"/>
          </a:xfrm>
        </p:spPr>
        <p:txBody>
          <a:bodyPr/>
          <a:lstStyle/>
          <a:p>
            <a:r>
              <a:rPr lang="en-US" altLang="zh-CN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10</a:t>
            </a:r>
            <a:r>
              <a:rPr lang="zh-CN" altLang="en-US" dirty="0"/>
              <a:t>月</a:t>
            </a:r>
            <a:r>
              <a:rPr lang="en-US" altLang="zh-CN" dirty="0"/>
              <a:t>4</a:t>
            </a:r>
            <a:r>
              <a:rPr lang="zh-CN" altLang="en-US" dirty="0"/>
              <a:t>日</a:t>
            </a:r>
            <a:endParaRPr lang="zh-CN" altLang="en-US" dirty="0"/>
          </a:p>
        </p:txBody>
      </p:sp>
      <p:sp>
        <p:nvSpPr>
          <p:cNvPr id="16" name="文本占位符 50"/>
          <p:cNvSpPr>
            <a:spLocks noGrp="1"/>
          </p:cNvSpPr>
          <p:nvPr>
            <p:ph type="body" sz="quarter" idx="22"/>
          </p:nvPr>
        </p:nvSpPr>
        <p:spPr>
          <a:xfrm>
            <a:off x="3937218" y="4640664"/>
            <a:ext cx="1161805" cy="290369"/>
          </a:xfrm>
        </p:spPr>
        <p:txBody>
          <a:bodyPr/>
          <a:lstStyle/>
          <a:p>
            <a:r>
              <a:rPr lang="zh-CN" altLang="en-US"/>
              <a:t>参赛团队：</a:t>
            </a:r>
            <a:endParaRPr lang="zh-CN" altLang="en-US"/>
          </a:p>
        </p:txBody>
      </p:sp>
      <p:sp>
        <p:nvSpPr>
          <p:cNvPr id="17" name="文本占位符 53"/>
          <p:cNvSpPr>
            <a:spLocks noGrp="1"/>
          </p:cNvSpPr>
          <p:nvPr>
            <p:ph type="body" sz="quarter" idx="25"/>
          </p:nvPr>
        </p:nvSpPr>
        <p:spPr>
          <a:xfrm>
            <a:off x="3937218" y="5077480"/>
            <a:ext cx="1161805" cy="290371"/>
          </a:xfrm>
        </p:spPr>
        <p:txBody>
          <a:bodyPr/>
          <a:lstStyle/>
          <a:p>
            <a:r>
              <a:rPr lang="zh-CN" altLang="en-US"/>
              <a:t>完成日期：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143625" y="47612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16"/>
          <p:cNvSpPr/>
          <p:nvPr>
            <p:custDataLst>
              <p:tags r:id="rId1"/>
            </p:custDataLst>
          </p:nvPr>
        </p:nvSpPr>
        <p:spPr>
          <a:xfrm>
            <a:off x="5092065" y="1622273"/>
            <a:ext cx="5114925" cy="74104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2">
                  <a:lumMod val="20000"/>
                  <a:lumOff val="80000"/>
                  <a:alpha val="30000"/>
                </a:schemeClr>
              </a:solidFill>
            </a:endParaRPr>
          </a:p>
        </p:txBody>
      </p:sp>
      <p:sp>
        <p:nvSpPr>
          <p:cNvPr id="8" name="任意形状 10"/>
          <p:cNvSpPr/>
          <p:nvPr>
            <p:custDataLst>
              <p:tags r:id="rId2"/>
            </p:custDataLst>
          </p:nvPr>
        </p:nvSpPr>
        <p:spPr>
          <a:xfrm rot="5400000">
            <a:off x="5560060" y="1504163"/>
            <a:ext cx="784860" cy="933450"/>
          </a:xfrm>
          <a:custGeom>
            <a:avLst/>
            <a:gdLst>
              <a:gd name="connsiteX0" fmla="*/ 0 w 1021517"/>
              <a:gd name="connsiteY0" fmla="*/ 1048944 h 1219200"/>
              <a:gd name="connsiteX1" fmla="*/ 0 w 1021517"/>
              <a:gd name="connsiteY1" fmla="*/ 343438 h 1219200"/>
              <a:gd name="connsiteX2" fmla="*/ 170256 w 1021517"/>
              <a:gd name="connsiteY2" fmla="*/ 173182 h 1219200"/>
              <a:gd name="connsiteX3" fmla="*/ 412580 w 1021517"/>
              <a:gd name="connsiteY3" fmla="*/ 173182 h 1219200"/>
              <a:gd name="connsiteX4" fmla="*/ 513025 w 1021517"/>
              <a:gd name="connsiteY4" fmla="*/ 0 h 1219200"/>
              <a:gd name="connsiteX5" fmla="*/ 613470 w 1021517"/>
              <a:gd name="connsiteY5" fmla="*/ 173182 h 1219200"/>
              <a:gd name="connsiteX6" fmla="*/ 851261 w 1021517"/>
              <a:gd name="connsiteY6" fmla="*/ 173182 h 1219200"/>
              <a:gd name="connsiteX7" fmla="*/ 1021517 w 1021517"/>
              <a:gd name="connsiteY7" fmla="*/ 343438 h 1219200"/>
              <a:gd name="connsiteX8" fmla="*/ 1021517 w 1021517"/>
              <a:gd name="connsiteY8" fmla="*/ 1048944 h 1219200"/>
              <a:gd name="connsiteX9" fmla="*/ 851261 w 1021517"/>
              <a:gd name="connsiteY9" fmla="*/ 1219200 h 1219200"/>
              <a:gd name="connsiteX10" fmla="*/ 170256 w 1021517"/>
              <a:gd name="connsiteY10" fmla="*/ 1219200 h 1219200"/>
              <a:gd name="connsiteX11" fmla="*/ 0 w 1021517"/>
              <a:gd name="connsiteY11" fmla="*/ 1048944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>
            <a:srgbClr val="254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en-US" altLang="zh-CN" dirty="0">
              <a:solidFill>
                <a:srgbClr val="C00000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5485765" y="1716888"/>
            <a:ext cx="79692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01</a:t>
            </a:r>
            <a:endParaRPr kumimoji="1" lang="en-US" altLang="zh-CN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" name="圆角矩形 114"/>
          <p:cNvSpPr/>
          <p:nvPr>
            <p:custDataLst>
              <p:tags r:id="rId4"/>
            </p:custDataLst>
          </p:nvPr>
        </p:nvSpPr>
        <p:spPr>
          <a:xfrm>
            <a:off x="5092065" y="2565248"/>
            <a:ext cx="5114925" cy="74104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2">
                  <a:lumMod val="20000"/>
                  <a:lumOff val="80000"/>
                  <a:alpha val="30000"/>
                </a:schemeClr>
              </a:solidFill>
            </a:endParaRPr>
          </a:p>
        </p:txBody>
      </p:sp>
      <p:sp>
        <p:nvSpPr>
          <p:cNvPr id="11" name="任意形状 10"/>
          <p:cNvSpPr/>
          <p:nvPr>
            <p:custDataLst>
              <p:tags r:id="rId5"/>
            </p:custDataLst>
          </p:nvPr>
        </p:nvSpPr>
        <p:spPr>
          <a:xfrm rot="5400000">
            <a:off x="5560060" y="2447138"/>
            <a:ext cx="784860" cy="933450"/>
          </a:xfrm>
          <a:custGeom>
            <a:avLst/>
            <a:gdLst>
              <a:gd name="connsiteX0" fmla="*/ 0 w 1021517"/>
              <a:gd name="connsiteY0" fmla="*/ 1048944 h 1219200"/>
              <a:gd name="connsiteX1" fmla="*/ 0 w 1021517"/>
              <a:gd name="connsiteY1" fmla="*/ 343438 h 1219200"/>
              <a:gd name="connsiteX2" fmla="*/ 170256 w 1021517"/>
              <a:gd name="connsiteY2" fmla="*/ 173182 h 1219200"/>
              <a:gd name="connsiteX3" fmla="*/ 412580 w 1021517"/>
              <a:gd name="connsiteY3" fmla="*/ 173182 h 1219200"/>
              <a:gd name="connsiteX4" fmla="*/ 513025 w 1021517"/>
              <a:gd name="connsiteY4" fmla="*/ 0 h 1219200"/>
              <a:gd name="connsiteX5" fmla="*/ 613470 w 1021517"/>
              <a:gd name="connsiteY5" fmla="*/ 173182 h 1219200"/>
              <a:gd name="connsiteX6" fmla="*/ 851261 w 1021517"/>
              <a:gd name="connsiteY6" fmla="*/ 173182 h 1219200"/>
              <a:gd name="connsiteX7" fmla="*/ 1021517 w 1021517"/>
              <a:gd name="connsiteY7" fmla="*/ 343438 h 1219200"/>
              <a:gd name="connsiteX8" fmla="*/ 1021517 w 1021517"/>
              <a:gd name="connsiteY8" fmla="*/ 1048944 h 1219200"/>
              <a:gd name="connsiteX9" fmla="*/ 851261 w 1021517"/>
              <a:gd name="connsiteY9" fmla="*/ 1219200 h 1219200"/>
              <a:gd name="connsiteX10" fmla="*/ 170256 w 1021517"/>
              <a:gd name="connsiteY10" fmla="*/ 1219200 h 1219200"/>
              <a:gd name="connsiteX11" fmla="*/ 0 w 1021517"/>
              <a:gd name="connsiteY11" fmla="*/ 1048944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>
            <a:srgbClr val="254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5485765" y="2659863"/>
            <a:ext cx="79692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  <a:endParaRPr kumimoji="1" lang="en-US" altLang="zh-CN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圆角矩形 119"/>
          <p:cNvSpPr/>
          <p:nvPr>
            <p:custDataLst>
              <p:tags r:id="rId7"/>
            </p:custDataLst>
          </p:nvPr>
        </p:nvSpPr>
        <p:spPr>
          <a:xfrm>
            <a:off x="5092065" y="3508223"/>
            <a:ext cx="5114925" cy="74104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2">
                  <a:lumMod val="20000"/>
                  <a:lumOff val="80000"/>
                  <a:alpha val="30000"/>
                </a:schemeClr>
              </a:solidFill>
            </a:endParaRPr>
          </a:p>
        </p:txBody>
      </p:sp>
      <p:sp>
        <p:nvSpPr>
          <p:cNvPr id="14" name="任意形状 10"/>
          <p:cNvSpPr/>
          <p:nvPr>
            <p:custDataLst>
              <p:tags r:id="rId8"/>
            </p:custDataLst>
          </p:nvPr>
        </p:nvSpPr>
        <p:spPr>
          <a:xfrm rot="5400000">
            <a:off x="5560060" y="3390113"/>
            <a:ext cx="784860" cy="933450"/>
          </a:xfrm>
          <a:custGeom>
            <a:avLst/>
            <a:gdLst>
              <a:gd name="connsiteX0" fmla="*/ 0 w 1021517"/>
              <a:gd name="connsiteY0" fmla="*/ 1048944 h 1219200"/>
              <a:gd name="connsiteX1" fmla="*/ 0 w 1021517"/>
              <a:gd name="connsiteY1" fmla="*/ 343438 h 1219200"/>
              <a:gd name="connsiteX2" fmla="*/ 170256 w 1021517"/>
              <a:gd name="connsiteY2" fmla="*/ 173182 h 1219200"/>
              <a:gd name="connsiteX3" fmla="*/ 412580 w 1021517"/>
              <a:gd name="connsiteY3" fmla="*/ 173182 h 1219200"/>
              <a:gd name="connsiteX4" fmla="*/ 513025 w 1021517"/>
              <a:gd name="connsiteY4" fmla="*/ 0 h 1219200"/>
              <a:gd name="connsiteX5" fmla="*/ 613470 w 1021517"/>
              <a:gd name="connsiteY5" fmla="*/ 173182 h 1219200"/>
              <a:gd name="connsiteX6" fmla="*/ 851261 w 1021517"/>
              <a:gd name="connsiteY6" fmla="*/ 173182 h 1219200"/>
              <a:gd name="connsiteX7" fmla="*/ 1021517 w 1021517"/>
              <a:gd name="connsiteY7" fmla="*/ 343438 h 1219200"/>
              <a:gd name="connsiteX8" fmla="*/ 1021517 w 1021517"/>
              <a:gd name="connsiteY8" fmla="*/ 1048944 h 1219200"/>
              <a:gd name="connsiteX9" fmla="*/ 851261 w 1021517"/>
              <a:gd name="connsiteY9" fmla="*/ 1219200 h 1219200"/>
              <a:gd name="connsiteX10" fmla="*/ 170256 w 1021517"/>
              <a:gd name="connsiteY10" fmla="*/ 1219200 h 1219200"/>
              <a:gd name="connsiteX11" fmla="*/ 0 w 1021517"/>
              <a:gd name="connsiteY11" fmla="*/ 1048944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>
            <a:srgbClr val="254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en-US" altLang="zh-CN" dirty="0"/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5485765" y="3602838"/>
            <a:ext cx="79692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03</a:t>
            </a:r>
            <a:endParaRPr kumimoji="1" lang="en-US" altLang="zh-CN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圆角矩形 129"/>
          <p:cNvSpPr/>
          <p:nvPr>
            <p:custDataLst>
              <p:tags r:id="rId10"/>
            </p:custDataLst>
          </p:nvPr>
        </p:nvSpPr>
        <p:spPr>
          <a:xfrm>
            <a:off x="5092065" y="4407442"/>
            <a:ext cx="5114925" cy="74104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2">
                  <a:lumMod val="20000"/>
                  <a:lumOff val="80000"/>
                  <a:alpha val="30000"/>
                </a:schemeClr>
              </a:solidFill>
            </a:endParaRPr>
          </a:p>
        </p:txBody>
      </p:sp>
      <p:sp>
        <p:nvSpPr>
          <p:cNvPr id="21" name="任意形状 10"/>
          <p:cNvSpPr/>
          <p:nvPr>
            <p:custDataLst>
              <p:tags r:id="rId11"/>
            </p:custDataLst>
          </p:nvPr>
        </p:nvSpPr>
        <p:spPr>
          <a:xfrm rot="5400000">
            <a:off x="5560060" y="4289332"/>
            <a:ext cx="784860" cy="933450"/>
          </a:xfrm>
          <a:custGeom>
            <a:avLst/>
            <a:gdLst>
              <a:gd name="connsiteX0" fmla="*/ 0 w 1021517"/>
              <a:gd name="connsiteY0" fmla="*/ 1048944 h 1219200"/>
              <a:gd name="connsiteX1" fmla="*/ 0 w 1021517"/>
              <a:gd name="connsiteY1" fmla="*/ 343438 h 1219200"/>
              <a:gd name="connsiteX2" fmla="*/ 170256 w 1021517"/>
              <a:gd name="connsiteY2" fmla="*/ 173182 h 1219200"/>
              <a:gd name="connsiteX3" fmla="*/ 412580 w 1021517"/>
              <a:gd name="connsiteY3" fmla="*/ 173182 h 1219200"/>
              <a:gd name="connsiteX4" fmla="*/ 513025 w 1021517"/>
              <a:gd name="connsiteY4" fmla="*/ 0 h 1219200"/>
              <a:gd name="connsiteX5" fmla="*/ 613470 w 1021517"/>
              <a:gd name="connsiteY5" fmla="*/ 173182 h 1219200"/>
              <a:gd name="connsiteX6" fmla="*/ 851261 w 1021517"/>
              <a:gd name="connsiteY6" fmla="*/ 173182 h 1219200"/>
              <a:gd name="connsiteX7" fmla="*/ 1021517 w 1021517"/>
              <a:gd name="connsiteY7" fmla="*/ 343438 h 1219200"/>
              <a:gd name="connsiteX8" fmla="*/ 1021517 w 1021517"/>
              <a:gd name="connsiteY8" fmla="*/ 1048944 h 1219200"/>
              <a:gd name="connsiteX9" fmla="*/ 851261 w 1021517"/>
              <a:gd name="connsiteY9" fmla="*/ 1219200 h 1219200"/>
              <a:gd name="connsiteX10" fmla="*/ 170256 w 1021517"/>
              <a:gd name="connsiteY10" fmla="*/ 1219200 h 1219200"/>
              <a:gd name="connsiteX11" fmla="*/ 0 w 1021517"/>
              <a:gd name="connsiteY11" fmla="*/ 1048944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>
            <a:srgbClr val="254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en-US" altLang="zh-CN" dirty="0"/>
          </a:p>
        </p:txBody>
      </p:sp>
      <p:sp>
        <p:nvSpPr>
          <p:cNvPr id="22" name="文本框 21"/>
          <p:cNvSpPr txBox="1"/>
          <p:nvPr>
            <p:custDataLst>
              <p:tags r:id="rId12"/>
            </p:custDataLst>
          </p:nvPr>
        </p:nvSpPr>
        <p:spPr>
          <a:xfrm>
            <a:off x="5497947" y="4502057"/>
            <a:ext cx="79692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</a:t>
            </a:r>
            <a:r>
              <a:rPr kumimoji="1" lang="en-US" altLang="zh-CN" sz="2800" b="1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4</a:t>
            </a:r>
            <a:endParaRPr kumimoji="1" lang="en-US" altLang="zh-CN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标题 32"/>
          <p:cNvSpPr txBox="1"/>
          <p:nvPr>
            <p:custDataLst>
              <p:tags r:id="rId13"/>
            </p:custDataLst>
          </p:nvPr>
        </p:nvSpPr>
        <p:spPr>
          <a:xfrm>
            <a:off x="6762750" y="1712443"/>
            <a:ext cx="3072130" cy="521970"/>
          </a:xfrm>
        </p:spPr>
        <p:txBody>
          <a:bodyPr wrap="square" anchor="ctr" anchorCtr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ea"/>
                <a:ea typeface="+mj-ea"/>
                <a:cs typeface="+mj-cs"/>
              </a:defRPr>
            </a:lvl1pPr>
          </a:lstStyle>
          <a:p>
            <a:r>
              <a:rPr lang="zh-CN" altLang="en-US"/>
              <a:t>项目</a:t>
            </a:r>
            <a:r>
              <a:rPr lang="zh-CN" altLang="en-US">
                <a:cs typeface="Arial" panose="020B0604020202020204" pitchFamily="34" charset="0"/>
              </a:rPr>
              <a:t>背景</a:t>
            </a:r>
            <a:endParaRPr lang="zh-CN" altLang="en-US" dirty="0"/>
          </a:p>
        </p:txBody>
      </p:sp>
      <p:sp>
        <p:nvSpPr>
          <p:cNvPr id="24" name="标题 32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6762750" y="2664943"/>
            <a:ext cx="3072130" cy="52197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创新</a:t>
            </a:r>
            <a:r>
              <a:rPr lang="zh-CN" altLang="en-US" dirty="0">
                <a:cs typeface="Arial" panose="020B0604020202020204" pitchFamily="34" charset="0"/>
              </a:rPr>
              <a:t>成果</a:t>
            </a:r>
            <a:endParaRPr lang="zh-CN" altLang="en-US" dirty="0"/>
          </a:p>
        </p:txBody>
      </p:sp>
      <p:sp>
        <p:nvSpPr>
          <p:cNvPr id="25" name="标题 32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762750" y="3592043"/>
            <a:ext cx="3072130" cy="52197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总结</a:t>
            </a:r>
            <a:r>
              <a:rPr lang="zh-CN" altLang="en-US" dirty="0">
                <a:cs typeface="Arial" panose="020B0604020202020204" pitchFamily="34" charset="0"/>
              </a:rPr>
              <a:t>展望</a:t>
            </a:r>
            <a:endParaRPr lang="zh-CN" altLang="en-US" dirty="0"/>
          </a:p>
        </p:txBody>
      </p:sp>
      <p:sp>
        <p:nvSpPr>
          <p:cNvPr id="27" name="标题 32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6750568" y="4510312"/>
            <a:ext cx="3072130" cy="52197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附录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eck_hea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69" cy="5692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0143" y="603503"/>
            <a:ext cx="14630363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一、</a:t>
            </a:r>
            <a:r>
              <a: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项目背景</a:t>
            </a:r>
            <a:endParaRPr lang="zh-CN" altLang="en-US" sz="2800" b="1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89890" y="1371600"/>
            <a:ext cx="3755390" cy="49403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大模型推理正从云端走向端侧，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RISC-V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平台具备开放、可定制、低功耗等优势，适合在边缘设备上部署大模型。然而在多请求并发推理场景下，端侧平台仍面临性能与响应的双重挑战。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36446" y="1536192"/>
            <a:ext cx="3462519" cy="562356"/>
          </a:xfrm>
          <a:prstGeom prst="roundRect">
            <a:avLst>
              <a:gd name="adj" fmla="val 35000"/>
            </a:avLst>
          </a:prstGeom>
          <a:solidFill>
            <a:srgbClr val="E2E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982" y="1694497"/>
            <a:ext cx="914397" cy="2457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CN" sz="1600" b="1">
                <a:solidFill>
                  <a:srgbClr val="0E2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挑战</a:t>
            </a:r>
            <a:r>
              <a:rPr sz="1600" b="1">
                <a:solidFill>
                  <a:srgbClr val="0E2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一：</a:t>
            </a:r>
            <a:endParaRPr sz="1600" b="1">
              <a:solidFill>
                <a:srgbClr val="0E2A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511804" y="1577340"/>
            <a:ext cx="2438393" cy="4800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量化 V 状态上下文开销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267200" y="1371600"/>
            <a:ext cx="3657600" cy="493966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13492" y="1536192"/>
            <a:ext cx="3364983" cy="562356"/>
          </a:xfrm>
          <a:prstGeom prst="roundRect">
            <a:avLst>
              <a:gd name="adj" fmla="val 35000"/>
            </a:avLst>
          </a:prstGeom>
          <a:solidFill>
            <a:srgbClr val="E2E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11028" y="1694497"/>
            <a:ext cx="914397" cy="2457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CN" sz="1600" b="1">
                <a:solidFill>
                  <a:srgbClr val="0E2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挑战</a:t>
            </a:r>
            <a:r>
              <a:rPr sz="1600" b="1">
                <a:solidFill>
                  <a:srgbClr val="0E2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二：</a:t>
            </a:r>
            <a:endParaRPr sz="1600" b="1">
              <a:solidFill>
                <a:srgbClr val="0E2A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36235" y="1577340"/>
            <a:ext cx="2292985" cy="4800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提高推理吞吐 TPS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511028" y="2276856"/>
            <a:ext cx="195071" cy="195071"/>
          </a:xfrm>
          <a:prstGeom prst="ellipse">
            <a:avLst/>
          </a:prstGeom>
          <a:solidFill>
            <a:srgbClr val="1E4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52403" y="2208276"/>
            <a:ext cx="2901688" cy="891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550" b="1">
                <a:solidFill>
                  <a:srgbClr val="0E2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现象：</a:t>
            </a:r>
            <a:r>
              <a:rPr sz="155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核 CPU 接近满载，token 产出却远低于理论值，忙碌不等于有效计算</a:t>
            </a:r>
            <a:endParaRPr sz="15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4511028" y="3264408"/>
            <a:ext cx="195071" cy="195071"/>
          </a:xfrm>
          <a:prstGeom prst="ellipse">
            <a:avLst/>
          </a:prstGeom>
          <a:solidFill>
            <a:srgbClr val="1E4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52403" y="3195827"/>
            <a:ext cx="2901688" cy="891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550" b="1">
                <a:solidFill>
                  <a:srgbClr val="0E2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卡点：</a:t>
            </a:r>
            <a:r>
              <a:rPr sz="155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CFS 对所有线程一视同仁，无感知同组 worker 同步关系，计算相位分散</a:t>
            </a:r>
            <a:endParaRPr sz="15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4511028" y="4539996"/>
            <a:ext cx="195071" cy="195071"/>
          </a:xfrm>
          <a:prstGeom prst="ellipse">
            <a:avLst/>
          </a:prstGeom>
          <a:solidFill>
            <a:srgbClr val="1E4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52403" y="4471416"/>
            <a:ext cx="2901688" cy="891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550" b="1">
                <a:solidFill>
                  <a:srgbClr val="0E2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目标：</a:t>
            </a:r>
            <a:r>
              <a:rPr sz="155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 CPU 有效计算效率，减少无效等待与上下文切换</a:t>
            </a:r>
            <a:endParaRPr sz="15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4511028" y="3140964"/>
            <a:ext cx="3169912" cy="0"/>
          </a:xfrm>
          <a:prstGeom prst="line">
            <a:avLst/>
          </a:prstGeom>
          <a:ln w="12700">
            <a:solidFill>
              <a:srgbClr val="D5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11028" y="4395978"/>
            <a:ext cx="3169912" cy="0"/>
          </a:xfrm>
          <a:prstGeom prst="line">
            <a:avLst/>
          </a:prstGeom>
          <a:ln w="12700">
            <a:solidFill>
              <a:srgbClr val="D5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046720" y="1371600"/>
            <a:ext cx="3767455" cy="493966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93003" y="1536192"/>
            <a:ext cx="3474711" cy="562356"/>
          </a:xfrm>
          <a:prstGeom prst="roundRect">
            <a:avLst>
              <a:gd name="adj" fmla="val 35000"/>
            </a:avLst>
          </a:prstGeom>
          <a:solidFill>
            <a:srgbClr val="E2E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90539" y="1694497"/>
            <a:ext cx="914397" cy="2457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CN" sz="1600" b="1">
                <a:solidFill>
                  <a:srgbClr val="0E2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挑战</a:t>
            </a:r>
            <a:r>
              <a:rPr sz="1600" b="1">
                <a:solidFill>
                  <a:srgbClr val="0E2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三：</a:t>
            </a:r>
            <a:endParaRPr sz="1600" b="1">
              <a:solidFill>
                <a:srgbClr val="0E2A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168361" y="1577340"/>
            <a:ext cx="2450585" cy="4800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缩短首 Token 延迟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8290539" y="2276856"/>
            <a:ext cx="195071" cy="195071"/>
          </a:xfrm>
          <a:prstGeom prst="ellipse">
            <a:avLst/>
          </a:prstGeom>
          <a:solidFill>
            <a:srgbClr val="1E4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31914" y="2208276"/>
            <a:ext cx="3011416" cy="891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550" b="1">
                <a:solidFill>
                  <a:srgbClr val="0E2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现象：</a:t>
            </a:r>
            <a:r>
              <a:rPr sz="155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并发下新请求 Prefill 与既有 Decode 争抢 CPU，TTFT 尾延迟恶化</a:t>
            </a:r>
            <a:endParaRPr sz="15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8290539" y="3264408"/>
            <a:ext cx="195071" cy="195071"/>
          </a:xfrm>
          <a:prstGeom prst="ellipse">
            <a:avLst/>
          </a:prstGeom>
          <a:solidFill>
            <a:srgbClr val="1E4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31914" y="3195827"/>
            <a:ext cx="3011416" cy="891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550" b="1">
                <a:solidFill>
                  <a:srgbClr val="0E2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卡点：</a:t>
            </a:r>
            <a:r>
              <a:rPr sz="155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CFS 看不到请求所处计算阶段，无法区分关键路径新请求与稳态 decode</a:t>
            </a:r>
            <a:endParaRPr sz="15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8290539" y="4539996"/>
            <a:ext cx="195071" cy="195071"/>
          </a:xfrm>
          <a:prstGeom prst="ellipse">
            <a:avLst/>
          </a:prstGeom>
          <a:solidFill>
            <a:srgbClr val="1E4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31914" y="4471416"/>
            <a:ext cx="3011416" cy="891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550" b="1">
                <a:solidFill>
                  <a:srgbClr val="0E2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目标：</a:t>
            </a:r>
            <a:r>
              <a:rPr sz="155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让关键路径请求获得优先资源与优先调度，不牺牲吞吐压低 TTFT</a:t>
            </a:r>
            <a:endParaRPr sz="15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8290539" y="3140964"/>
            <a:ext cx="3279640" cy="0"/>
          </a:xfrm>
          <a:prstGeom prst="line">
            <a:avLst/>
          </a:prstGeom>
          <a:ln w="12700">
            <a:solidFill>
              <a:srgbClr val="D5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290539" y="4395978"/>
            <a:ext cx="3279640" cy="0"/>
          </a:xfrm>
          <a:prstGeom prst="line">
            <a:avLst/>
          </a:prstGeom>
          <a:ln w="12700">
            <a:solidFill>
              <a:srgbClr val="D5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23_c1"/>
          <p:cNvSpPr/>
          <p:nvPr/>
        </p:nvSpPr>
        <p:spPr>
          <a:xfrm>
            <a:off x="633718" y="2276856"/>
            <a:ext cx="195071" cy="195071"/>
          </a:xfrm>
          <a:prstGeom prst="ellipse">
            <a:avLst/>
          </a:prstGeom>
          <a:solidFill>
            <a:srgbClr val="1E4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24_c1"/>
          <p:cNvSpPr txBox="1"/>
          <p:nvPr/>
        </p:nvSpPr>
        <p:spPr>
          <a:xfrm>
            <a:off x="975093" y="2208276"/>
            <a:ext cx="2901688" cy="891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550" b="1">
                <a:solidFill>
                  <a:srgbClr val="0E2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赛题假设：</a:t>
            </a:r>
            <a:r>
              <a:rPr sz="155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dirty-V 线程被抢占，触发 512 B–1 KB+ 向量寄存器整组保存</a:t>
            </a:r>
            <a:endParaRPr sz="15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Oval 25_c1"/>
          <p:cNvSpPr/>
          <p:nvPr/>
        </p:nvSpPr>
        <p:spPr>
          <a:xfrm>
            <a:off x="633718" y="3264408"/>
            <a:ext cx="195071" cy="195071"/>
          </a:xfrm>
          <a:prstGeom prst="ellipse">
            <a:avLst/>
          </a:prstGeom>
          <a:solidFill>
            <a:srgbClr val="1E4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26_c1"/>
          <p:cNvSpPr txBox="1"/>
          <p:nvPr/>
        </p:nvSpPr>
        <p:spPr>
          <a:xfrm>
            <a:off x="975093" y="3195827"/>
            <a:ext cx="2901688" cy="891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550" b="1">
                <a:solidFill>
                  <a:srgbClr val="0E2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卡点：</a:t>
            </a:r>
            <a:r>
              <a:rPr sz="155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保存/恢复在内核 sched_switch 内部，lazy save 下候选 ≠ 实际，应用层不可见</a:t>
            </a:r>
            <a:endParaRPr sz="15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Oval 27_c1"/>
          <p:cNvSpPr/>
          <p:nvPr/>
        </p:nvSpPr>
        <p:spPr>
          <a:xfrm>
            <a:off x="633718" y="4539996"/>
            <a:ext cx="195071" cy="195071"/>
          </a:xfrm>
          <a:prstGeom prst="ellipse">
            <a:avLst/>
          </a:prstGeom>
          <a:solidFill>
            <a:srgbClr val="1E4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28_c1"/>
          <p:cNvSpPr txBox="1"/>
          <p:nvPr/>
        </p:nvSpPr>
        <p:spPr>
          <a:xfrm>
            <a:off x="975093" y="4471416"/>
            <a:ext cx="2901688" cy="891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550" b="1">
                <a:solidFill>
                  <a:srgbClr val="0E2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目标：</a:t>
            </a:r>
            <a:r>
              <a:rPr sz="155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eBPF 让 V 状态切换次数与真实代价可观测、可归因</a:t>
            </a:r>
            <a:endParaRPr sz="15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0" name="Connector 29_c1"/>
          <p:cNvCxnSpPr/>
          <p:nvPr/>
        </p:nvCxnSpPr>
        <p:spPr>
          <a:xfrm>
            <a:off x="633718" y="3140964"/>
            <a:ext cx="3169912" cy="0"/>
          </a:xfrm>
          <a:prstGeom prst="line">
            <a:avLst/>
          </a:prstGeom>
          <a:ln w="12700">
            <a:solidFill>
              <a:srgbClr val="D5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30_c1"/>
          <p:cNvCxnSpPr/>
          <p:nvPr/>
        </p:nvCxnSpPr>
        <p:spPr>
          <a:xfrm>
            <a:off x="633718" y="4395978"/>
            <a:ext cx="3169912" cy="0"/>
          </a:xfrm>
          <a:prstGeom prst="line">
            <a:avLst/>
          </a:prstGeom>
          <a:ln w="12700">
            <a:solidFill>
              <a:srgbClr val="D5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eck_hea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69" cy="5692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0143" y="603503"/>
            <a:ext cx="14630363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二、创新成果 | 量化 V 状态上下文开销：</a:t>
            </a:r>
            <a:r>
              <a:rPr lang="zh-CN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rvv_sched_cost</a:t>
            </a:r>
            <a:endParaRPr sz="2800" b="1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04799" y="1357884"/>
            <a:ext cx="5900913" cy="507491"/>
          </a:xfrm>
          <a:prstGeom prst="roundRect">
            <a:avLst>
              <a:gd name="adj" fmla="val 22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难点：V 状态不可见、事件难归因，而观测本身不能扰动被测负载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92607" y="1961388"/>
            <a:ext cx="5913105" cy="235915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0143" y="2057400"/>
            <a:ext cx="2170170" cy="40462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核心功能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7678" y="2551176"/>
            <a:ext cx="5559538" cy="9690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150" b="1">
                <a:solidFill>
                  <a:srgbClr val="1E4BD8"/>
                </a:solidFill>
                <a:latin typeface="微软雅黑" panose="020B0503020204020204" charset="-122"/>
              </a:rPr>
              <a:t>● </a:t>
            </a:r>
            <a:r>
              <a:rPr sz="1150" b="1">
                <a:solidFill>
                  <a:srgbClr val="0E2A63"/>
                </a:solidFill>
                <a:latin typeface="微软雅黑" panose="020B0503020204020204" charset="-122"/>
              </a:rPr>
              <a:t>状态：</a:t>
            </a:r>
            <a:r>
              <a:rPr sz="1150" b="0">
                <a:solidFill>
                  <a:srgbClr val="16233A"/>
                </a:solidFill>
                <a:latin typeface="微软雅黑" panose="020B0503020204020204" charset="-122"/>
              </a:rPr>
              <a:t>直读 sstatus.VS 四态（OFF / INITIAL / CLEAN / DIRTY）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150" b="1">
                <a:solidFill>
                  <a:srgbClr val="1E4BD8"/>
                </a:solidFill>
                <a:latin typeface="微软雅黑" panose="020B0503020204020204" charset="-122"/>
              </a:rPr>
              <a:t>● 分档：</a:t>
            </a:r>
            <a:r>
              <a:rPr sz="1150" b="1">
                <a:solidFill>
                  <a:srgbClr val="0E2A63"/>
                </a:solidFill>
                <a:latin typeface="微软雅黑" panose="020B0503020204020204" charset="-122"/>
                <a:ea typeface="微软雅黑" panose="020B0503020204020204" charset="-122"/>
              </a:rPr>
              <a:t>按需选择采集档位，在数据量与开销之间权衡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150" b="1">
                <a:solidFill>
                  <a:srgbClr val="1E4BD8"/>
                </a:solidFill>
                <a:latin typeface="微软雅黑" panose="020B0503020204020204" charset="-122"/>
              </a:rPr>
              <a:t>● </a:t>
            </a:r>
            <a:r>
              <a:rPr sz="1150" b="1">
                <a:solidFill>
                  <a:srgbClr val="0E2A63"/>
                </a:solidFill>
                <a:latin typeface="微软雅黑" panose="020B0503020204020204" charset="-122"/>
              </a:rPr>
              <a:t>归因：</a:t>
            </a:r>
            <a:r>
              <a:rPr sz="1150" b="0">
                <a:solidFill>
                  <a:srgbClr val="16233A"/>
                </a:solidFill>
                <a:latin typeface="微软雅黑" panose="020B0503020204020204" charset="-122"/>
              </a:rPr>
              <a:t>线程 / CPU / waker / futex-uaddr / 用户栈（16 层）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150" b="1">
                <a:solidFill>
                  <a:srgbClr val="1E4BD8"/>
                </a:solidFill>
                <a:latin typeface="微软雅黑" panose="020B0503020204020204" charset="-122"/>
              </a:rPr>
              <a:t>● </a:t>
            </a:r>
            <a:r>
              <a:rPr sz="1150" b="1">
                <a:solidFill>
                  <a:srgbClr val="0E2A63"/>
                </a:solidFill>
                <a:latin typeface="微软雅黑" panose="020B0503020204020204" charset="-122"/>
              </a:rPr>
              <a:t>细节：</a:t>
            </a:r>
            <a:r>
              <a:rPr sz="1150" b="0">
                <a:solidFill>
                  <a:srgbClr val="16233A"/>
                </a:solidFill>
                <a:latin typeface="微软雅黑" panose="020B0503020204020204" charset="-122"/>
              </a:rPr>
              <a:t>futex wait / wake 配对、blocked 时长与直方图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92607" y="4423410"/>
            <a:ext cx="5913105" cy="211912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4526" y="4519422"/>
            <a:ext cx="2097018" cy="41147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观测开销（实测）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7678" y="5020056"/>
            <a:ext cx="5559538" cy="465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150" b="1">
                <a:solidFill>
                  <a:srgbClr val="1E4BD8"/>
                </a:solidFill>
                <a:latin typeface="微软雅黑" panose="020B0503020204020204" charset="-122"/>
              </a:rPr>
              <a:t>● 自身开销：</a:t>
            </a:r>
            <a:r>
              <a:rPr sz="1150" b="1">
                <a:solidFill>
                  <a:srgbClr val="0E2A63"/>
                </a:solidFill>
                <a:latin typeface="微软雅黑" panose="020B0503020204020204" charset="-122"/>
              </a:rPr>
              <a:t>观测进程 CPU ≈ 0.01% 单核（长时间实测）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150" b="1">
                <a:solidFill>
                  <a:srgbClr val="1E4BD8"/>
                </a:solidFill>
                <a:latin typeface="微软雅黑" panose="020B0503020204020204" charset="-122"/>
              </a:rPr>
              <a:t>● </a:t>
            </a:r>
            <a:r>
              <a:rPr sz="1150" b="1">
                <a:solidFill>
                  <a:srgbClr val="0E2A63"/>
                </a:solidFill>
                <a:latin typeface="微软雅黑" panose="020B0503020204020204" charset="-122"/>
              </a:rPr>
              <a:t>结论：</a:t>
            </a:r>
            <a:r>
              <a:rPr sz="1150" b="0">
                <a:solidFill>
                  <a:srgbClr val="16233A"/>
                </a:solidFill>
                <a:latin typeface="微软雅黑" panose="020B0503020204020204" charset="-122"/>
              </a:rPr>
              <a:t>开销 ≲ </a:t>
            </a:r>
            <a:r>
              <a:rPr lang="en-US" sz="1150" b="0">
                <a:solidFill>
                  <a:srgbClr val="16233A"/>
                </a:solidFill>
                <a:latin typeface="微软雅黑" panose="020B0503020204020204" charset="-122"/>
              </a:rPr>
              <a:t>1</a:t>
            </a:r>
            <a:r>
              <a:rPr sz="1150" b="0">
                <a:solidFill>
                  <a:srgbClr val="16233A"/>
                </a:solidFill>
                <a:latin typeface="微软雅黑" panose="020B0503020204020204" charset="-122"/>
              </a:rPr>
              <a:t>%，落在 run-to-run 噪声内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91056" y="1357884"/>
            <a:ext cx="5620497" cy="51846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2703" y="1851660"/>
            <a:ext cx="5120627" cy="308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E2A63"/>
                </a:solidFill>
                <a:latin typeface="微软雅黑" panose="020B0503020204020204" charset="-122"/>
              </a:rPr>
              <a:t>各工具对比</a:t>
            </a:r>
            <a:endParaRPr sz="1400" b="1">
              <a:solidFill>
                <a:srgbClr val="0E2A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522703" y="2173986"/>
          <a:ext cx="5157216" cy="17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1188720"/>
                <a:gridCol w="1207008"/>
                <a:gridCol w="1645920"/>
              </a:tblGrid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观测手段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V 状态覆盖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归因粒度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观测开销 / 适用性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E2A63"/>
                          </a:solidFill>
                          <a:latin typeface="微软雅黑" panose="020B0503020204020204" charset="-122"/>
                        </a:rPr>
                        <a:t>perf / PMU</a:t>
                      </a:r>
                      <a:endParaRPr sz="1150" b="1">
                        <a:solidFill>
                          <a:srgbClr val="0E2A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</a:rPr>
                        <a:t>无 V 状态语义</a:t>
                      </a:r>
                      <a:endParaRPr sz="11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</a:rPr>
                        <a:t>系统级</a:t>
                      </a:r>
                      <a:endParaRPr sz="11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1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</a:t>
                      </a:r>
                      <a:endParaRPr lang="en-US" sz="11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E2A63"/>
                          </a:solidFill>
                          <a:latin typeface="微软雅黑" panose="020B0503020204020204" charset="-122"/>
                        </a:rPr>
                        <a:t>ftrace / kprobe</a:t>
                      </a:r>
                      <a:endParaRPr sz="1150" b="1">
                        <a:solidFill>
                          <a:srgbClr val="0E2A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</a:rPr>
                        <a:t>单点切换计数</a:t>
                      </a:r>
                      <a:endParaRPr sz="11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</a:rPr>
                        <a:t>函数级</a:t>
                      </a:r>
                      <a:endParaRPr sz="11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1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</a:t>
                      </a:r>
                      <a:endParaRPr lang="en-US" sz="11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E2A63"/>
                          </a:solidFill>
                          <a:latin typeface="微软雅黑" panose="020B0503020204020204" charset="-122"/>
                        </a:rPr>
                        <a:t>通用 eBPF</a:t>
                      </a:r>
                      <a:endParaRPr sz="1150" b="1">
                        <a:solidFill>
                          <a:srgbClr val="0E2A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</a:rPr>
                        <a:t>无候选分离</a:t>
                      </a:r>
                      <a:endParaRPr sz="11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</a:rPr>
                        <a:t>任务级</a:t>
                      </a:r>
                      <a:endParaRPr sz="11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1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</a:t>
                      </a:r>
                      <a:endParaRPr lang="en-US" sz="11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E4BD8"/>
                          </a:solidFill>
                          <a:latin typeface="微软雅黑" panose="020B0503020204020204" charset="-122"/>
                        </a:rPr>
                        <a:t>rvv_sched_cost</a:t>
                      </a:r>
                      <a:endParaRPr sz="1150" b="1">
                        <a:solidFill>
                          <a:srgbClr val="0E2A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E2A63"/>
                          </a:solidFill>
                          <a:latin typeface="微软雅黑" panose="020B0503020204020204" charset="-122"/>
                        </a:rPr>
                        <a:t>VS </a:t>
                      </a:r>
                      <a:r>
                        <a:rPr lang="zh-CN" sz="950" b="1">
                          <a:solidFill>
                            <a:srgbClr val="0E2A63"/>
                          </a:solidFill>
                          <a:latin typeface="微软雅黑" panose="020B0503020204020204" charset="-122"/>
                        </a:rPr>
                        <a:t>四</a:t>
                      </a:r>
                      <a:r>
                        <a:rPr lang="zh-CN" sz="950" b="1">
                          <a:solidFill>
                            <a:srgbClr val="0E2A63"/>
                          </a:solidFill>
                          <a:latin typeface="微软雅黑" panose="020B0503020204020204" charset="-122"/>
                        </a:rPr>
                        <a:t>态</a:t>
                      </a:r>
                      <a:endParaRPr lang="zh-CN" sz="950" b="1">
                        <a:solidFill>
                          <a:srgbClr val="0E2A63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E2A63"/>
                          </a:solidFill>
                          <a:latin typeface="微软雅黑" panose="020B0503020204020204" charset="-122"/>
                        </a:rPr>
                        <a:t>线程/CPU/uaddr/栈</a:t>
                      </a:r>
                      <a:endParaRPr sz="11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E2A63"/>
                          </a:solidFill>
                          <a:latin typeface="微软雅黑" panose="020B0503020204020204" charset="-122"/>
                        </a:rPr>
                        <a:t>自身 ≈0.01% CPU</a:t>
                      </a:r>
                      <a:endParaRPr sz="11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522703" y="3943350"/>
            <a:ext cx="5242546" cy="205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A5C74"/>
                </a:solidFill>
                <a:latin typeface="微软雅黑" panose="020B0503020204020204" charset="-122"/>
              </a:rPr>
              <a:t>固定负载 c=4 / 256 token / 3B Q4：full vs off +0.52%［−0.86%, +2.50%］，rvv-only −1.81%［−4.39%, +0.94%］，均跨 0；每轮 ≈20k 切换、≈10k 候选。</a:t>
            </a:r>
            <a:endParaRPr sz="1000" b="0">
              <a:solidFill>
                <a:srgbClr val="4A5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22703" y="4443984"/>
            <a:ext cx="5120627" cy="308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E4BD8"/>
                </a:solidFill>
                <a:latin typeface="微软雅黑" panose="020B0503020204020204" charset="-122"/>
              </a:rPr>
              <a:t>能力矩阵：一次运行，多档产出</a:t>
            </a:r>
            <a:endParaRPr sz="150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608047" y="4800600"/>
            <a:ext cx="1158237" cy="226314"/>
          </a:xfrm>
          <a:prstGeom prst="roundRect">
            <a:avLst>
              <a:gd name="adj" fmla="val 25000"/>
            </a:avLst>
          </a:prstGeom>
          <a:solidFill>
            <a:srgbClr val="1E4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8047" y="4800600"/>
            <a:ext cx="1158237" cy="2263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VS 四态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608047" y="5095494"/>
            <a:ext cx="1158237" cy="226314"/>
          </a:xfrm>
          <a:prstGeom prst="roundRect">
            <a:avLst>
              <a:gd name="adj" fmla="val 25000"/>
            </a:avLst>
          </a:prstGeom>
          <a:solidFill>
            <a:srgbClr val="6C5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8047" y="5095494"/>
            <a:ext cx="1158237" cy="2263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save/restore 候选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Down Arrow 23"/>
          <p:cNvSpPr/>
          <p:nvPr/>
        </p:nvSpPr>
        <p:spPr>
          <a:xfrm>
            <a:off x="7095726" y="5342382"/>
            <a:ext cx="182879" cy="123443"/>
          </a:xfrm>
          <a:prstGeom prst="downArrow">
            <a:avLst/>
          </a:prstGeom>
          <a:solidFill>
            <a:srgbClr val="8A9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608047" y="5486400"/>
            <a:ext cx="1158237" cy="226314"/>
          </a:xfrm>
          <a:prstGeom prst="roundRect">
            <a:avLst>
              <a:gd name="adj" fmla="val 25000"/>
            </a:avLst>
          </a:prstGeom>
          <a:solidFill>
            <a:srgbClr val="18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8047" y="5486400"/>
            <a:ext cx="1158237" cy="2263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状态画像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888204" y="4800600"/>
            <a:ext cx="1158237" cy="226314"/>
          </a:xfrm>
          <a:prstGeom prst="roundRect">
            <a:avLst>
              <a:gd name="adj" fmla="val 25000"/>
            </a:avLst>
          </a:prstGeom>
          <a:solidFill>
            <a:srgbClr val="1E4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88204" y="4800600"/>
            <a:ext cx="1158237" cy="2263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切出状态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888204" y="5095494"/>
            <a:ext cx="1158237" cy="226314"/>
          </a:xfrm>
          <a:prstGeom prst="roundRect">
            <a:avLst>
              <a:gd name="adj" fmla="val 25000"/>
            </a:avLst>
          </a:prstGeom>
          <a:solidFill>
            <a:srgbClr val="6C5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88204" y="5095494"/>
            <a:ext cx="1158237" cy="2263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waker 关系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Down Arrow 30"/>
          <p:cNvSpPr/>
          <p:nvPr/>
        </p:nvSpPr>
        <p:spPr>
          <a:xfrm>
            <a:off x="8375883" y="5342382"/>
            <a:ext cx="182879" cy="123443"/>
          </a:xfrm>
          <a:prstGeom prst="downArrow">
            <a:avLst/>
          </a:prstGeom>
          <a:solidFill>
            <a:srgbClr val="8A9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888204" y="5486400"/>
            <a:ext cx="1158237" cy="226314"/>
          </a:xfrm>
          <a:prstGeom prst="roundRect">
            <a:avLst>
              <a:gd name="adj" fmla="val 25000"/>
            </a:avLst>
          </a:prstGeom>
          <a:solidFill>
            <a:srgbClr val="18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88204" y="5486400"/>
            <a:ext cx="1158237" cy="2263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切换归因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168361" y="4800600"/>
            <a:ext cx="1158237" cy="226314"/>
          </a:xfrm>
          <a:prstGeom prst="roundRect">
            <a:avLst>
              <a:gd name="adj" fmla="val 25000"/>
            </a:avLst>
          </a:prstGeom>
          <a:solidFill>
            <a:srgbClr val="1E4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68361" y="4800600"/>
            <a:ext cx="1158237" cy="2263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futex uaddr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168361" y="5095494"/>
            <a:ext cx="1158237" cy="226314"/>
          </a:xfrm>
          <a:prstGeom prst="roundRect">
            <a:avLst>
              <a:gd name="adj" fmla="val 25000"/>
            </a:avLst>
          </a:prstGeom>
          <a:solidFill>
            <a:srgbClr val="6C5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68361" y="5095494"/>
            <a:ext cx="1158237" cy="2263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用户栈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Down Arrow 37"/>
          <p:cNvSpPr/>
          <p:nvPr/>
        </p:nvSpPr>
        <p:spPr>
          <a:xfrm>
            <a:off x="9656039" y="5342382"/>
            <a:ext cx="182879" cy="123443"/>
          </a:xfrm>
          <a:prstGeom prst="downArrow">
            <a:avLst/>
          </a:prstGeom>
          <a:solidFill>
            <a:srgbClr val="8A9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168361" y="5486400"/>
            <a:ext cx="1158237" cy="226314"/>
          </a:xfrm>
          <a:prstGeom prst="roundRect">
            <a:avLst>
              <a:gd name="adj" fmla="val 25000"/>
            </a:avLst>
          </a:prstGeom>
          <a:solidFill>
            <a:srgbClr val="18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8361" y="5486400"/>
            <a:ext cx="1158237" cy="2263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同步归因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10460709" y="4800600"/>
            <a:ext cx="1158237" cy="226314"/>
          </a:xfrm>
          <a:prstGeom prst="roundRect">
            <a:avLst>
              <a:gd name="adj" fmla="val 25000"/>
            </a:avLst>
          </a:prstGeom>
          <a:solidFill>
            <a:srgbClr val="1E4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60709" y="4800600"/>
            <a:ext cx="1158237" cy="2263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文本输出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10460709" y="5095494"/>
            <a:ext cx="1158237" cy="226314"/>
          </a:xfrm>
          <a:prstGeom prst="roundRect">
            <a:avLst>
              <a:gd name="adj" fmla="val 25000"/>
            </a:avLst>
          </a:prstGeom>
          <a:solidFill>
            <a:srgbClr val="6C5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60709" y="5095494"/>
            <a:ext cx="1158237" cy="2263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JSON 输出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Down Arrow 44"/>
          <p:cNvSpPr/>
          <p:nvPr/>
        </p:nvSpPr>
        <p:spPr>
          <a:xfrm>
            <a:off x="10948388" y="5342382"/>
            <a:ext cx="182879" cy="123443"/>
          </a:xfrm>
          <a:prstGeom prst="downArrow">
            <a:avLst/>
          </a:prstGeom>
          <a:solidFill>
            <a:srgbClr val="8A9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460709" y="5486400"/>
            <a:ext cx="1158237" cy="226314"/>
          </a:xfrm>
          <a:prstGeom prst="roundRect">
            <a:avLst>
              <a:gd name="adj" fmla="val 25000"/>
            </a:avLst>
          </a:prstGeom>
          <a:solidFill>
            <a:srgbClr val="18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60709" y="5486400"/>
            <a:ext cx="1158237" cy="2263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结果归档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522703" y="6206490"/>
            <a:ext cx="5364466" cy="205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A5C74"/>
                </a:solidFill>
                <a:latin typeface="微软雅黑" panose="020B0503020204020204" charset="-122"/>
              </a:rPr>
              <a:t>纯 CO-RE eBPF：不加载内核模块、不改内核、不用 uprobe；采集 profile 与开关随结果一并保存。</a:t>
            </a:r>
            <a:endParaRPr sz="1000" b="0">
              <a:solidFill>
                <a:srgbClr val="4A5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eck_hea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69" cy="5692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0143" y="603503"/>
            <a:ext cx="14630363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二</a:t>
            </a:r>
            <a:r>
              <a:rPr lang="zh-CN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、</a:t>
            </a:r>
            <a:r>
              <a:rPr lang="zh-CN" altLang="en-US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创新成果</a:t>
            </a:r>
            <a:r>
              <a:rPr lang="en-US" altLang="zh-CN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| </a:t>
            </a:r>
            <a:r>
              <a:rPr lang="zh-CN" altLang="en-US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量化 </a:t>
            </a:r>
            <a:r>
              <a:rPr lang="en-US" altLang="zh-CN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V </a:t>
            </a:r>
            <a:r>
              <a:rPr lang="zh-CN" altLang="en-US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状态上下文开销</a:t>
            </a:r>
            <a:endParaRPr lang="zh-CN" altLang="en-US" sz="2800" b="1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04799" y="1092327"/>
            <a:ext cx="7534637" cy="493775"/>
          </a:xfrm>
          <a:prstGeom prst="roundRect">
            <a:avLst>
              <a:gd name="adj" fmla="val 35000"/>
            </a:avLst>
          </a:prstGeom>
          <a:solidFill>
            <a:srgbClr val="E8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2334" y="1147191"/>
            <a:ext cx="1097277" cy="38404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28795" y="1174623"/>
            <a:ext cx="5827761" cy="3566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E2A63"/>
                </a:solidFill>
                <a:latin typeface="微软雅黑" panose="020B0503020204020204" charset="-122"/>
              </a:rPr>
              <a:t>V 状态切换开销 = v_save × 54.242 ns + v_restore × 42.585 ns</a:t>
            </a:r>
            <a:endParaRPr sz="1500" b="1">
              <a:solidFill>
                <a:srgbClr val="0E2A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04799" y="2043684"/>
            <a:ext cx="7534637" cy="493775"/>
          </a:xfrm>
          <a:prstGeom prst="roundRect">
            <a:avLst>
              <a:gd name="adj" fmla="val 35000"/>
            </a:avLst>
          </a:prstGeom>
          <a:solidFill>
            <a:srgbClr val="E8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9890" y="1644650"/>
            <a:ext cx="1096645" cy="27368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切换开销图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04800" y="2028190"/>
            <a:ext cx="7534910" cy="240855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4799" y="4430268"/>
            <a:ext cx="7534637" cy="493775"/>
          </a:xfrm>
          <a:prstGeom prst="roundRect">
            <a:avLst>
              <a:gd name="adj" fmla="val 35000"/>
            </a:avLst>
          </a:prstGeom>
          <a:solidFill>
            <a:srgbClr val="E8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02334" y="4485132"/>
            <a:ext cx="1280156" cy="38404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结果汇总表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04799" y="4848605"/>
            <a:ext cx="7534637" cy="121386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34010" y="4861560"/>
          <a:ext cx="7506335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6350"/>
                <a:gridCol w="1260475"/>
                <a:gridCol w="1291590"/>
                <a:gridCol w="1238250"/>
                <a:gridCol w="1238885"/>
                <a:gridCol w="1200785"/>
              </a:tblGrid>
              <a:tr h="29845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切换事件 / token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c=1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c=2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c=4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c=8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占 wall time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E2A63"/>
                          </a:solidFill>
                          <a:latin typeface="微软雅黑" panose="020B0503020204020204" charset="-122"/>
                        </a:rPr>
                        <a:t>Llama-3.2-3B</a:t>
                      </a:r>
                      <a:endParaRPr sz="900" b="1">
                        <a:solidFill>
                          <a:srgbClr val="0E2A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33A"/>
                          </a:solidFill>
                          <a:latin typeface="微软雅黑" panose="020B0503020204020204" charset="-122"/>
                        </a:rPr>
                        <a:t>39.2</a:t>
                      </a:r>
                      <a:endParaRPr sz="90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33A"/>
                          </a:solidFill>
                          <a:latin typeface="微软雅黑" panose="020B0503020204020204" charset="-122"/>
                        </a:rPr>
                        <a:t>28.3</a:t>
                      </a:r>
                      <a:endParaRPr sz="90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33A"/>
                          </a:solidFill>
                          <a:latin typeface="微软雅黑" panose="020B0503020204020204" charset="-122"/>
                        </a:rPr>
                        <a:t>50.9</a:t>
                      </a:r>
                      <a:endParaRPr sz="90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33A"/>
                          </a:solidFill>
                          <a:latin typeface="微软雅黑" panose="020B0503020204020204" charset="-122"/>
                        </a:rPr>
                        <a:t>56.2</a:t>
                      </a:r>
                      <a:endParaRPr sz="90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33A"/>
                          </a:solidFill>
                          <a:latin typeface="微软雅黑" panose="020B0503020204020204" charset="-122"/>
                        </a:rPr>
                        <a:t>≤0.0024%</a:t>
                      </a:r>
                      <a:endParaRPr sz="90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E2A63"/>
                          </a:solidFill>
                          <a:latin typeface="微软雅黑" panose="020B0503020204020204" charset="-122"/>
                        </a:rPr>
                        <a:t>Qwen2.5-1.5B</a:t>
                      </a:r>
                      <a:endParaRPr lang="x-none" sz="900" b="1">
                        <a:solidFill>
                          <a:srgbClr val="0E2A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33A"/>
                          </a:solidFill>
                          <a:latin typeface="微软雅黑" panose="020B0503020204020204" charset="-122"/>
                        </a:rPr>
                        <a:t>18.5</a:t>
                      </a:r>
                      <a:endParaRPr sz="90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33A"/>
                          </a:solidFill>
                          <a:latin typeface="微软雅黑" panose="020B0503020204020204" charset="-122"/>
                        </a:rPr>
                        <a:t>15.7</a:t>
                      </a:r>
                      <a:endParaRPr sz="90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33A"/>
                          </a:solidFill>
                          <a:latin typeface="微软雅黑" panose="020B0503020204020204" charset="-122"/>
                        </a:rPr>
                        <a:t>43.0</a:t>
                      </a:r>
                      <a:endParaRPr sz="90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33A"/>
                          </a:solidFill>
                          <a:latin typeface="微软雅黑" panose="020B0503020204020204" charset="-122"/>
                        </a:rPr>
                        <a:t>42.9</a:t>
                      </a:r>
                      <a:endParaRPr sz="90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33A"/>
                          </a:solidFill>
                          <a:latin typeface="微软雅黑" panose="020B0503020204020204" charset="-122"/>
                        </a:rPr>
                        <a:t>≤0.0040%</a:t>
                      </a:r>
                      <a:endParaRPr sz="90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E2A63"/>
                          </a:solidFill>
                          <a:latin typeface="微软雅黑" panose="020B0503020204020204" charset="-122"/>
                        </a:rPr>
                        <a:t>Qwen2.5-0.5B</a:t>
                      </a:r>
                      <a:endParaRPr lang="x-none" sz="900" b="1">
                        <a:solidFill>
                          <a:srgbClr val="0E2A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33A"/>
                          </a:solidFill>
                          <a:latin typeface="微软雅黑" panose="020B0503020204020204" charset="-122"/>
                        </a:rPr>
                        <a:t>21.7</a:t>
                      </a:r>
                      <a:endParaRPr sz="90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33A"/>
                          </a:solidFill>
                          <a:latin typeface="微软雅黑" panose="020B0503020204020204" charset="-122"/>
                        </a:rPr>
                        <a:t>16.7</a:t>
                      </a:r>
                      <a:endParaRPr sz="90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33A"/>
                          </a:solidFill>
                          <a:latin typeface="微软雅黑" panose="020B0503020204020204" charset="-122"/>
                        </a:rPr>
                        <a:t>16.7</a:t>
                      </a:r>
                      <a:endParaRPr sz="90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33A"/>
                          </a:solidFill>
                          <a:latin typeface="微软雅黑" panose="020B0503020204020204" charset="-122"/>
                        </a:rPr>
                        <a:t>25.2</a:t>
                      </a:r>
                      <a:endParaRPr sz="90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33A"/>
                          </a:solidFill>
                          <a:latin typeface="微软雅黑" panose="020B0503020204020204" charset="-122"/>
                        </a:rPr>
                        <a:t>≤0.0023%</a:t>
                      </a:r>
                      <a:endParaRPr sz="90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>
            <p:custDataLst>
              <p:tags r:id="rId2"/>
            </p:custDataLst>
          </p:nvPr>
        </p:nvSpPr>
        <p:spPr>
          <a:xfrm>
            <a:off x="8046699" y="1296162"/>
            <a:ext cx="3864854" cy="2057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Rounded Rectangle 19"/>
          <p:cNvSpPr/>
          <p:nvPr>
            <p:custDataLst>
              <p:tags r:id="rId3"/>
            </p:custDataLst>
          </p:nvPr>
        </p:nvSpPr>
        <p:spPr>
          <a:xfrm>
            <a:off x="8180811" y="1378458"/>
            <a:ext cx="1828795" cy="35661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测量对象与机制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4"/>
            </p:custDataLst>
          </p:nvPr>
        </p:nvSpPr>
        <p:spPr>
          <a:xfrm>
            <a:off x="8193003" y="1789938"/>
            <a:ext cx="3608822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100" b="0">
                <a:solidFill>
                  <a:srgbClr val="16233A"/>
                </a:solidFill>
                <a:latin typeface="微软雅黑" panose="020B0503020204020204" charset="-122"/>
              </a:rPr>
              <a:t>K1 8 核 / RVV VLEN=256 bit / CFS；-t 8 -tb 8、-np=c、-c 4096</a:t>
            </a:r>
            <a:endParaRPr sz="11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100" b="0">
                <a:solidFill>
                  <a:srgbClr val="16233A"/>
                </a:solidFill>
                <a:latin typeface="微软雅黑" panose="020B0503020204020204" charset="-122"/>
              </a:rPr>
              <a:t>rvv_sched_cost 完整模式覆盖正式推理窗口，统计 v_save / v_restore 候选数</a:t>
            </a:r>
            <a:endParaRPr sz="11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100" b="0">
                <a:solidFill>
                  <a:srgbClr val="16233A"/>
                </a:solidFill>
                <a:latin typeface="微软雅黑" panose="020B0503020204020204" charset="-122"/>
              </a:rPr>
              <a:t>按线程归因切出状态（running / preempt / sleeping / D），c ∈ {1,2,4,8}</a:t>
            </a:r>
            <a:endParaRPr sz="11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>
            <p:custDataLst>
              <p:tags r:id="rId5"/>
            </p:custDataLst>
          </p:nvPr>
        </p:nvSpPr>
        <p:spPr>
          <a:xfrm>
            <a:off x="8046699" y="3463290"/>
            <a:ext cx="3864854" cy="82295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Rounded Rectangle 22"/>
          <p:cNvSpPr/>
          <p:nvPr>
            <p:custDataLst>
              <p:tags r:id="rId6"/>
            </p:custDataLst>
          </p:nvPr>
        </p:nvSpPr>
        <p:spPr>
          <a:xfrm>
            <a:off x="8180811" y="3545586"/>
            <a:ext cx="1828795" cy="35661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完整性与扰动检查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>
            <p:custDataLst>
              <p:tags r:id="rId7"/>
            </p:custDataLst>
          </p:nvPr>
        </p:nvSpPr>
        <p:spPr>
          <a:xfrm>
            <a:off x="8193003" y="3917060"/>
            <a:ext cx="3608822" cy="274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050" b="0">
                <a:solidFill>
                  <a:srgbClr val="16233A"/>
                </a:solidFill>
                <a:latin typeface="微软雅黑" panose="020B0503020204020204" charset="-122"/>
              </a:rPr>
              <a:t>每轮 switches_out ≈ v_save ≈ v_restore，口径自洽</a:t>
            </a:r>
            <a:endParaRPr sz="11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16233A"/>
                </a:solidFill>
                <a:latin typeface="微软雅黑" panose="020B0503020204020204" charset="-122"/>
              </a:rPr>
              <a:t>24/24 轮完成、dmesg 为空；trace 抬升分母，估计偏保守</a:t>
            </a:r>
            <a:endParaRPr sz="1050" b="0">
              <a:solidFill>
                <a:srgbClr val="16233A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>
            <p:custDataLst>
              <p:tags r:id="rId8"/>
            </p:custDataLst>
          </p:nvPr>
        </p:nvSpPr>
        <p:spPr>
          <a:xfrm>
            <a:off x="8046699" y="4354830"/>
            <a:ext cx="3864854" cy="170764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6" name="Rounded Rectangle 25"/>
          <p:cNvSpPr/>
          <p:nvPr>
            <p:custDataLst>
              <p:tags r:id="rId9"/>
            </p:custDataLst>
          </p:nvPr>
        </p:nvSpPr>
        <p:spPr>
          <a:xfrm>
            <a:off x="8180811" y="4437126"/>
            <a:ext cx="1828795" cy="35661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结果解释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>
            <p:custDataLst>
              <p:tags r:id="rId10"/>
            </p:custDataLst>
          </p:nvPr>
        </p:nvSpPr>
        <p:spPr>
          <a:xfrm>
            <a:off x="8193003" y="4848605"/>
            <a:ext cx="3608822" cy="11590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050" b="0">
                <a:solidFill>
                  <a:srgbClr val="16233A"/>
                </a:solidFill>
                <a:latin typeface="微软雅黑" panose="020B0503020204020204" charset="-122"/>
              </a:rPr>
              <a:t>切换率对并发非单调：c=2 最低；c≥4 偏斜超出自旋预算、转为 futex 睡眠而抬升</a:t>
            </a:r>
            <a:endParaRPr sz="11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050" b="0">
                <a:solidFill>
                  <a:srgbClr val="16233A"/>
                </a:solidFill>
                <a:latin typeface="微软雅黑" panose="020B0503020204020204" charset="-122"/>
              </a:rPr>
              <a:t>同并发下模型越大事件越多，占比保持同一量级（分子与分母同步放大）</a:t>
            </a:r>
            <a:endParaRPr sz="11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16233A"/>
                </a:solidFill>
                <a:latin typeface="微软雅黑" panose="020B0503020204020204" charset="-122"/>
              </a:rPr>
              <a:t>当前 VLEN 下未成为瓶颈；随核心数上升或 VLEN 提升，单次搬运字节数与并发压力同步放大，可能成为更大的瓶颈</a:t>
            </a:r>
            <a:endParaRPr sz="1050" b="0">
              <a:solidFill>
                <a:srgbClr val="16233A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04799" y="6206490"/>
            <a:ext cx="11618946" cy="521207"/>
          </a:xfrm>
          <a:prstGeom prst="roundRect">
            <a:avLst>
              <a:gd name="adj" fmla="val 30000"/>
            </a:avLst>
          </a:prstGeom>
          <a:solidFill>
            <a:srgbClr val="E8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02334" y="6254496"/>
            <a:ext cx="1097277" cy="4251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局限说明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706875" y="6254496"/>
            <a:ext cx="10119334" cy="4251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50" b="0">
                <a:solidFill>
                  <a:srgbClr val="16233A"/>
                </a:solidFill>
                <a:latin typeface="微软雅黑" panose="020B0503020204020204" charset="-122"/>
              </a:rPr>
              <a:t>单次成本为用户态热缓存微基准，非内核 __switch_to_vector 函数级计时；事件率非平稳，绝对值不外推至任意上下文长度。</a:t>
            </a:r>
            <a:endParaRPr sz="11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50" b="0">
                <a:solidFill>
                  <a:srgbClr val="16233A"/>
                </a:solidFill>
                <a:latin typeface="微软雅黑" panose="020B0503020204020204" charset="-122"/>
              </a:rPr>
              <a:t>3B 为 Llama、1.5B / 0.5B 为 Qwen，跨规模趋势待同族复核；当前结论适用于 VLEN=256 与 8 核平台。</a:t>
            </a:r>
            <a:endParaRPr sz="11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" name="Picture 30" descr="vstate_quant_char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4645" y="2059940"/>
            <a:ext cx="7324725" cy="239331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216152" y="6089904"/>
            <a:ext cx="5733288" cy="100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>
                <a:solidFill>
                  <a:srgbClr val="4A5C74"/>
                </a:solidFill>
                <a:latin typeface="微软雅黑" panose="020B0503020204020204" charset="-122"/>
              </a:rPr>
              <a:t>2 轮均值；对应 V 开销 ≈ 1.5–5.4 µs/token</a:t>
            </a:r>
            <a:endParaRPr sz="850">
              <a:solidFill>
                <a:srgbClr val="4A5C7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eck_hea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69" cy="5692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0143" y="603503"/>
            <a:ext cx="14630363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二、创新成果 |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提高 TPS</a:t>
            </a:r>
            <a:endParaRPr lang="zh-CN" altLang="en-US" sz="28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43839" y="1248156"/>
            <a:ext cx="6742159" cy="47457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9" name="Picture 8" descr="scheduling-policy-comparison-red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252" y="1316736"/>
            <a:ext cx="5831333" cy="460857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104888" y="1243584"/>
            <a:ext cx="4855464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42048" y="1330452"/>
            <a:ext cx="2560313" cy="370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问题 ｜ 满载 ≠ 高产出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42048" y="1746504"/>
            <a:ext cx="4636007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05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 长期满载，有效计算占比待定位</a:t>
            </a:r>
            <a:endParaRPr sz="10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05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方法：用户态符号采样 + 调度事件观测</a:t>
            </a:r>
            <a:endParaRPr sz="10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104888" y="2414015"/>
            <a:ext cx="4855464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242048" y="2500884"/>
            <a:ext cx="2560313" cy="370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发现一 ｜ 屏障自旋空转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242048" y="2916935"/>
            <a:ext cx="463600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05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根因：图节点后 ggml_barrier() 有界自旋（SPINCOUNT≈300k）</a:t>
            </a:r>
            <a:endParaRPr sz="10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05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占比：自旋 = 用户态 CPU 17.54%（≈311 CPU·s）</a:t>
            </a:r>
            <a:endParaRPr sz="10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05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佐证：同期计算本体样本几乎不变</a:t>
            </a:r>
            <a:endParaRPr sz="10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104888" y="3611880"/>
            <a:ext cx="4855464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42048" y="3698748"/>
            <a:ext cx="2560313" cy="370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发现二 ｜ 同步互唤频繁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42048" y="4114800"/>
            <a:ext cx="4636007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05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现象：storm 下 sched wakeup 达 80 万级</a:t>
            </a:r>
            <a:endParaRPr sz="10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05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定位：futex 热点地址 = gomp_team-&gt;barrier.generation</a:t>
            </a:r>
            <a:endParaRPr sz="10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05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归属：即 ggml_barrier() 的互唤开销</a:t>
            </a:r>
            <a:endParaRPr sz="10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104888" y="4782312"/>
            <a:ext cx="4855464" cy="12070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242048" y="4869179"/>
            <a:ext cx="2560313" cy="370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方案与收益 ｜ 同步相位调度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242048" y="5285231"/>
            <a:ext cx="4636007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05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措施：一核一线程 + per-CPU VDSQ + 100 ms 时间片</a:t>
            </a:r>
            <a:endParaRPr sz="10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05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自旋：311 s → 86 s（−72.35%）</a:t>
            </a:r>
            <a:endParaRPr sz="10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05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吞吐：TPS +53.29% / +31.95% / +25.14%（c=2/4/8）</a:t>
            </a:r>
            <a:endParaRPr sz="10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56031" y="6110478"/>
            <a:ext cx="11704290" cy="507491"/>
          </a:xfrm>
          <a:prstGeom prst="roundRect">
            <a:avLst>
              <a:gd name="adj" fmla="val 22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同步相位调度：稳定映射与长时间片保持组内连续推进，让 CPU 时间更多落在有效计算上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eck_hea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69" cy="5692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0143" y="603503"/>
            <a:ext cx="14630363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28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二、创新成果 |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提高 TPS</a:t>
            </a:r>
            <a:endParaRPr sz="280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04799" y="1296162"/>
            <a:ext cx="7534637" cy="493775"/>
          </a:xfrm>
          <a:prstGeom prst="roundRect">
            <a:avLst>
              <a:gd name="adj" fmla="val 35000"/>
            </a:avLst>
          </a:prstGeom>
          <a:solidFill>
            <a:srgbClr val="E8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2334" y="1351026"/>
            <a:ext cx="1097277" cy="38404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28795" y="1378458"/>
            <a:ext cx="5827761" cy="3566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E2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到达时差 = 同一 epoch 最晚屏障入口 − 最早屏障入口</a:t>
            </a:r>
            <a:endParaRPr sz="1500" b="1">
              <a:solidFill>
                <a:srgbClr val="0E2A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04799" y="2043684"/>
            <a:ext cx="7534637" cy="493775"/>
          </a:xfrm>
          <a:prstGeom prst="roundRect">
            <a:avLst>
              <a:gd name="adj" fmla="val 35000"/>
            </a:avLst>
          </a:prstGeom>
          <a:solidFill>
            <a:srgbClr val="E8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2334" y="2098548"/>
            <a:ext cx="1280156" cy="38404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自旋与到达时差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04799" y="2462022"/>
            <a:ext cx="7534637" cy="170078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4799" y="4430268"/>
            <a:ext cx="7534637" cy="493775"/>
          </a:xfrm>
          <a:prstGeom prst="roundRect">
            <a:avLst>
              <a:gd name="adj" fmla="val 35000"/>
            </a:avLst>
          </a:prstGeom>
          <a:solidFill>
            <a:srgbClr val="E8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02334" y="4485132"/>
            <a:ext cx="1280156" cy="38404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三策略结果表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04799" y="4848605"/>
            <a:ext cx="7534637" cy="121386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332740" y="4900930"/>
          <a:ext cx="7497445" cy="1141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51454"/>
                <a:gridCol w="1051454"/>
                <a:gridCol w="1051454"/>
                <a:gridCol w="1051454"/>
                <a:gridCol w="1051454"/>
                <a:gridCol w="1051454"/>
              </a:tblGrid>
              <a:tr h="286385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策略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时差均值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μs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时差中位数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μs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时差 p95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μs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释放尾均值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μs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plain TPS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token/s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自旋时间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(s)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</a:tr>
              <a:tr h="2851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E2A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CFS</a:t>
                      </a:r>
                      <a:endParaRPr sz="900" b="1">
                        <a:solidFill>
                          <a:srgbClr val="0E2A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1027.970</a:t>
                      </a:r>
                      <a:endParaRPr sz="90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850.500</a:t>
                      </a:r>
                      <a:endParaRPr sz="90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3176.455</a:t>
                      </a:r>
                      <a:endParaRPr sz="90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1404.863</a:t>
                      </a:r>
                      <a:endParaRPr sz="90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1.2476</a:t>
                      </a:r>
                      <a:endParaRPr sz="90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311.14</a:t>
                      </a:r>
                      <a:endParaRPr sz="90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 wrap="square"/>
                    <a:lstStyle/>
                    <a:p>
                      <a:pPr algn="ctr"/>
                      <a:r>
                        <a:rPr lang="x-none" sz="900" b="1">
                          <a:solidFill>
                            <a:srgbClr val="0E2A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infersched</a:t>
                      </a:r>
                      <a:endParaRPr lang="x-none" sz="900" b="1">
                        <a:solidFill>
                          <a:srgbClr val="0E2A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240.456</a:t>
                      </a:r>
                      <a:endParaRPr sz="90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13.386</a:t>
                      </a:r>
                      <a:endParaRPr sz="90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144.923</a:t>
                      </a:r>
                      <a:endParaRPr sz="90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5901.092</a:t>
                      </a:r>
                      <a:endParaRPr sz="90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1.9930</a:t>
                      </a:r>
                      <a:endParaRPr sz="90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86.03</a:t>
                      </a:r>
                      <a:endParaRPr sz="90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</a:tr>
              <a:tr h="285115">
                <a:tc>
                  <a:txBody>
                    <a:bodyPr wrap="square"/>
                    <a:lstStyle/>
                    <a:p>
                      <a:pPr algn="ctr"/>
                      <a:r>
                        <a:rPr lang="x-none" sz="900" b="1">
                          <a:solidFill>
                            <a:srgbClr val="0E2A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infersched-short</a:t>
                      </a:r>
                      <a:endParaRPr lang="x-none" sz="900" b="1">
                        <a:solidFill>
                          <a:srgbClr val="0E2A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485.658</a:t>
                      </a:r>
                      <a:endParaRPr sz="90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120.533</a:t>
                      </a:r>
                      <a:endParaRPr sz="90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2058.728</a:t>
                      </a:r>
                      <a:endParaRPr sz="90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649.433</a:t>
                      </a:r>
                      <a:endParaRPr sz="90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1.8009</a:t>
                      </a:r>
                      <a:endParaRPr sz="90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</a:t>
                      </a:r>
                      <a:endParaRPr sz="90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8046699" y="1296162"/>
            <a:ext cx="3864854" cy="2057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80811" y="1378458"/>
            <a:ext cx="1828795" cy="35661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测量对象与机制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93003" y="1789938"/>
            <a:ext cx="3608822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两个固定 8-worker team 共享 8 核；128 input / 64 output</a:t>
            </a:r>
            <a:endParaRPr sz="11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包装显式 GOMP_barrier，按线程屏障序号配对；每策略 2 个有效探针轮</a:t>
            </a:r>
            <a:endParaRPr sz="11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 64-barrier 区块选择一个采样位置，原版自旋与 futex 行为保留</a:t>
            </a:r>
            <a:endParaRPr sz="11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046699" y="3463290"/>
            <a:ext cx="3864854" cy="82295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80811" y="3545586"/>
            <a:ext cx="1828795" cy="35661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完整性与扰动检查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193003" y="3917060"/>
            <a:ext cx="3608822" cy="274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 epoch 要求 8 个独立 TID、8 入口、8 返回；用 plain 轮估计扰动</a:t>
            </a:r>
            <a:endParaRPr sz="11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046699" y="4354830"/>
            <a:ext cx="3864854" cy="170764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80811" y="4437126"/>
            <a:ext cx="1828795" cy="35661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结果解释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93003" y="4848605"/>
            <a:ext cx="3608822" cy="11590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 infersched 的到达时差显著压缩；短 spin 虽缩短释放尾时延，却使时差与吞吐变差</a:t>
            </a:r>
            <a:endParaRPr sz="11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到达时差与 release tail 是不同指标；这里只覆盖显式屏障与 Decode 样本</a:t>
            </a:r>
            <a:endParaRPr sz="11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04799" y="6206490"/>
            <a:ext cx="11618946" cy="521207"/>
          </a:xfrm>
          <a:prstGeom prst="roundRect">
            <a:avLst>
              <a:gd name="adj" fmla="val 30000"/>
            </a:avLst>
          </a:prstGeom>
          <a:solidFill>
            <a:srgbClr val="E8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02334" y="6254496"/>
            <a:ext cx="1097277" cy="4251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局限说明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706875" y="6254496"/>
            <a:ext cx="10119334" cy="4251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表中数值为有效轮统计均值，p95 并非合并样本分位数；每策略 2 个 probe 轮；自旋时间为同负载单轮 perf 诊断样本。</a:t>
            </a:r>
            <a:endParaRPr sz="11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覆盖显式屏障的 Decode 样本；到达时差下降不等于释放尾时延下降。</a:t>
            </a:r>
            <a:endParaRPr sz="11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" name="Picture 30" descr="chart_n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7693" y="2503170"/>
            <a:ext cx="5528849" cy="16184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eck_hea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69" cy="5692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0143" y="603503"/>
            <a:ext cx="14630363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二、创新成果 | 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缩短 TTFT</a:t>
            </a:r>
            <a:r>
              <a:rPr lang="zh-CN" altLang="en-US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r>
              <a:rPr lang="zh-CN" altLang="en-US" sz="2800" b="1">
                <a:solidFill>
                  <a:srgbClr val="1E4BD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语义 hint 通道</a:t>
            </a:r>
            <a:endParaRPr lang="zh-CN" altLang="en-US" sz="2800" b="1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43839" y="1255014"/>
            <a:ext cx="7766284" cy="49789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05195" y="1323594"/>
            <a:ext cx="3730742" cy="342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身份 / 阶段提示 → BPF maps → 相位优先队列 → 调度执行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083296" y="1755648"/>
            <a:ext cx="3877056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0456" y="1883664"/>
            <a:ext cx="2926080" cy="342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用户态 ｜ 生产者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0" y="2359152"/>
            <a:ext cx="3657600" cy="740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 TID / TGID / ith，登记 team</a:t>
            </a:r>
            <a:endParaRPr sz="10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1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 PREFILL / DECODE / MIXED 阶段</a:t>
            </a:r>
            <a:endParaRPr sz="10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83296" y="3291839"/>
            <a:ext cx="3877056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0456" y="3419856"/>
            <a:ext cx="2926080" cy="342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语义通道 ｜ mmapable BPF map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0" y="3895344"/>
            <a:ext cx="3657600" cy="740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高频状态 mmap 零拷贝，低频 BPF syscall</a:t>
            </a:r>
            <a:endParaRPr sz="10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1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校验 ABI 版本 / 会话 / 有效期</a:t>
            </a:r>
            <a:endParaRPr sz="10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83296" y="4828031"/>
            <a:ext cx="3877056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0456" y="4956047"/>
            <a:ext cx="2926080" cy="342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内核态 ｜ 消费者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0" y="5431536"/>
            <a:ext cx="3657600" cy="740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dispatch 依据有效 hint 选择 preferred team</a:t>
            </a:r>
            <a:endParaRPr sz="10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1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无有效 hint 时回退；失效则走默认轮转 / RVV Dirty 识别</a:t>
            </a:r>
            <a:endParaRPr sz="10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56031" y="6329934"/>
            <a:ext cx="11704290" cy="384048"/>
          </a:xfrm>
          <a:prstGeom prst="roundRect">
            <a:avLst>
              <a:gd name="adj" fmla="val 22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用户态提供语义、内核决定调度：hint 不是强制命令；组间仲裁在吞吐保持下将平均 TTFT 降低 38%~42%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43" y="1505868"/>
            <a:ext cx="7473676" cy="44771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eck_hea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69" cy="5692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0143" y="603503"/>
            <a:ext cx="14630363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二、创新成果 | 综合实验效果</a:t>
            </a:r>
            <a:endParaRPr lang="zh-CN" altLang="en-US" sz="28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02334" y="1371600"/>
            <a:ext cx="11387299" cy="562356"/>
          </a:xfrm>
          <a:prstGeom prst="roundRect">
            <a:avLst>
              <a:gd name="adj" fmla="val 10000"/>
            </a:avLst>
          </a:prstGeom>
          <a:solidFill>
            <a:srgbClr val="EE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678" y="1406716"/>
            <a:ext cx="11216611" cy="492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x-none" sz="1600" b="1">
                <a:solidFill>
                  <a:srgbClr val="0E2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开发板：Milk-V Jupiter（SpacemiT K1，8 核 RVV 1.0）　模型：Llama-3.2-3B-Instruct Q4_K_M</a:t>
            </a:r>
            <a:endParaRPr lang="x-none" sz="1600" b="1">
              <a:solidFill>
                <a:srgbClr val="0E2A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sz="1600" b="1">
                <a:solidFill>
                  <a:srgbClr val="0E2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 8-worker server 共享 8 核；128 input / 256 output；A 到 token-4 后向 B 注入</a:t>
            </a:r>
            <a:endParaRPr sz="1600" b="1">
              <a:solidFill>
                <a:srgbClr val="0E2A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02334" y="2043684"/>
            <a:ext cx="4669524" cy="35250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original-image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37" y="2077974"/>
            <a:ext cx="4147718" cy="345643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279122" y="2043684"/>
            <a:ext cx="6522703" cy="196824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original-image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419" y="2077974"/>
            <a:ext cx="3166110" cy="189966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279122" y="4293108"/>
            <a:ext cx="6522703" cy="126873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1042" y="4306824"/>
            <a:ext cx="6278864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0E2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上图：c=8 逐请求均值；下表：正式 pooled p95</a:t>
            </a:r>
            <a:endParaRPr sz="1050" b="1">
              <a:solidFill>
                <a:srgbClr val="0E2A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278755" y="4481830"/>
          <a:ext cx="6510655" cy="1067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200"/>
                <a:gridCol w="988695"/>
                <a:gridCol w="987425"/>
                <a:gridCol w="988060"/>
                <a:gridCol w="986790"/>
                <a:gridCol w="988060"/>
                <a:gridCol w="987425"/>
              </a:tblGrid>
              <a:tr h="274955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TPS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CFS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TPS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infersched-nohint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TPS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infersched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p95(s)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CFS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p95(s)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infersched-nohint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p95(s)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infersched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</a:tr>
              <a:tr h="2641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E2A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endParaRPr sz="950" b="1">
                        <a:solidFill>
                          <a:srgbClr val="0E2A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1.6300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2.5347</a:t>
                      </a:r>
                      <a:r>
                        <a:rPr sz="7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(+55.5%)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2.5250</a:t>
                      </a:r>
                      <a:r>
                        <a:rPr sz="7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(+54.9%)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23.195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16.747</a:t>
                      </a:r>
                      <a:r>
                        <a:rPr sz="7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(−27.8%)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14.253</a:t>
                      </a:r>
                      <a:r>
                        <a:rPr sz="7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(−38.6%)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</a:tr>
              <a:tr h="2641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E2A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endParaRPr sz="950" b="1">
                        <a:solidFill>
                          <a:srgbClr val="0E2A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2.0701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2.6995</a:t>
                      </a:r>
                      <a:r>
                        <a:rPr sz="7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(+30.4%)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2.7056</a:t>
                      </a:r>
                      <a:r>
                        <a:rPr sz="7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(+30.7%)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49.724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37.767</a:t>
                      </a:r>
                      <a:r>
                        <a:rPr sz="7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(−24.0%)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28.677</a:t>
                      </a:r>
                      <a:r>
                        <a:rPr sz="7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(−42.3%)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</a:tr>
              <a:tr h="2641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E2A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</a:t>
                      </a:r>
                      <a:endParaRPr sz="950" b="1">
                        <a:solidFill>
                          <a:srgbClr val="0E2A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3.2008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4.0109</a:t>
                      </a:r>
                      <a:r>
                        <a:rPr sz="7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(+25.3%)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4.0210</a:t>
                      </a:r>
                      <a:r>
                        <a:rPr sz="7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(+25.6%)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96.264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65.434</a:t>
                      </a:r>
                      <a:r>
                        <a:rPr sz="7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(−32.0%)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55.395</a:t>
                      </a:r>
                      <a:r>
                        <a:rPr sz="7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(−42.5%)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02334" y="5637276"/>
            <a:ext cx="5486386" cy="3977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左图为原始吞吐时间曲线；右图为 c=8 逐请求平均 TTFT，不能解读为 p95</a:t>
            </a:r>
            <a:endParaRPr sz="11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95984" y="5637276"/>
            <a:ext cx="5730225" cy="3977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正式轮次：c=2/4/8 分别 60/30/15 轮，每个组合均含 60 个 injected 样本；括号内为该列相对 CFS 的变化</a:t>
            </a:r>
            <a:endParaRPr sz="11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02334" y="6124194"/>
            <a:ext cx="11387299" cy="500634"/>
          </a:xfrm>
          <a:prstGeom prst="roundRect">
            <a:avLst>
              <a:gd name="adj" fmla="val 12000"/>
            </a:avLst>
          </a:prstGeom>
          <a:solidFill>
            <a:srgbClr val="EE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678" y="6124194"/>
            <a:ext cx="11216611" cy="5006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infersched-nohint 获得主要吞吐收益；infersched 在 TPS 基本保持时进一步改善新请求响应。</a:t>
            </a:r>
            <a:endParaRPr sz="150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66985" y="11645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eck_hea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69" cy="5692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0143" y="603503"/>
            <a:ext cx="14630363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二、创新成果 | 对比其他算法优势</a:t>
            </a:r>
            <a:endParaRPr lang="zh-CN" altLang="en-US" sz="2800" b="1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68223" y="1296162"/>
            <a:ext cx="6827502" cy="493775"/>
          </a:xfrm>
          <a:prstGeom prst="roundRect">
            <a:avLst>
              <a:gd name="adj" fmla="val 35000"/>
            </a:avLst>
          </a:prstGeom>
          <a:solidFill>
            <a:srgbClr val="E2E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38" y="1344168"/>
            <a:ext cx="1402076" cy="3977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比较维度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70170" y="1344168"/>
            <a:ext cx="4754868" cy="3977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E2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 · 接入方式 · 调度依据 · 验证证据</a:t>
            </a:r>
            <a:endParaRPr sz="1500" b="1">
              <a:solidFill>
                <a:srgbClr val="0E2A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68223" y="1892808"/>
            <a:ext cx="11655522" cy="2715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67970" y="1890395"/>
          <a:ext cx="11637010" cy="2689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2356485"/>
                <a:gridCol w="2357120"/>
                <a:gridCol w="2356485"/>
                <a:gridCol w="2783840"/>
              </a:tblGrid>
              <a:tr h="537845">
                <a:tc>
                  <a:txBody>
                    <a:bodyPr wrap="square"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对比维度</a:t>
                      </a:r>
                      <a:endParaRPr lang="zh-CN" sz="1200"/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Elastic Gang</a:t>
                      </a:r>
                      <a:endParaRPr lang="zh-CN" sz="1200"/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SCHED_COOP</a:t>
                      </a:r>
                      <a:endParaRPr lang="zh-CN" sz="1200"/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ArcLight</a:t>
                      </a:r>
                      <a:endParaRPr lang="zh-CN" sz="1200"/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本项目</a:t>
                      </a:r>
                      <a:endParaRPr lang="zh-CN" sz="1200"/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</a:tr>
              <a:tr h="537845">
                <a:tc>
                  <a:txBody>
                    <a:bodyPr wrap="square"/>
                    <a:lstStyle/>
                    <a:p>
                      <a:pPr algn="ctr"/>
                      <a:r>
                        <a:rPr lang="zh-CN" sz="1150" b="1">
                          <a:solidFill>
                            <a:srgbClr val="1E4BD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平台与环境</a:t>
                      </a:r>
                      <a:endParaRPr lang="zh-CN" sz="1150"/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1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自研 Anima OS，专用推理环境</a:t>
                      </a:r>
                      <a:endParaRPr lang="zh-CN" sz="1150"/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1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标准 Linux，扩展 glibc</a:t>
                      </a:r>
                      <a:endParaRPr lang="zh-CN" sz="1150"/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1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多核 CPU，推理框架内改造</a:t>
                      </a:r>
                      <a:endParaRPr lang="zh-CN" sz="1150"/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100" b="1">
                          <a:solidFill>
                            <a:srgbClr val="0E2A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RISC-V K1 实机，RVV 1.0</a:t>
                      </a:r>
                      <a:endParaRPr lang="zh-CN" sz="1100"/>
                    </a:p>
                  </a:txBody>
                  <a:tcPr marL="27432" marR="27432" marT="0" marB="0" anchor="ctr">
                    <a:solidFill>
                      <a:srgbClr val="E3ECFD"/>
                    </a:solidFill>
                  </a:tcPr>
                </a:tc>
              </a:tr>
              <a:tr h="537845">
                <a:tc>
                  <a:txBody>
                    <a:bodyPr wrap="square"/>
                    <a:lstStyle/>
                    <a:p>
                      <a:pPr algn="ctr"/>
                      <a:r>
                        <a:rPr lang="zh-CN" sz="1150" b="1">
                          <a:solidFill>
                            <a:srgbClr val="1E4BD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部署方式与侵入性</a:t>
                      </a:r>
                      <a:endParaRPr lang="zh-CN" sz="1150"/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1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自研内核与系统环境</a:t>
                      </a:r>
                      <a:endParaRPr lang="zh-CN" sz="1150"/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1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修改 C 运行库（glibc）</a:t>
                      </a:r>
                      <a:endParaRPr lang="zh-CN" sz="1150"/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1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仅改应用 / 框架层</a:t>
                      </a:r>
                      <a:endParaRPr lang="zh-CN" sz="1150"/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100" b="1">
                          <a:solidFill>
                            <a:srgbClr val="0E2A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标准 Linux + sched_ext，不改 libc</a:t>
                      </a:r>
                      <a:endParaRPr lang="zh-CN" sz="1100"/>
                    </a:p>
                  </a:txBody>
                  <a:tcPr marL="27432" marR="27432" marT="0" marB="0" anchor="ctr">
                    <a:solidFill>
                      <a:srgbClr val="E3ECFD"/>
                    </a:solidFill>
                  </a:tcPr>
                </a:tc>
              </a:tr>
              <a:tr h="537845">
                <a:tc>
                  <a:txBody>
                    <a:bodyPr wrap="square"/>
                    <a:lstStyle/>
                    <a:p>
                      <a:pPr algn="ctr"/>
                      <a:r>
                        <a:rPr lang="zh-CN" sz="1150" b="1">
                          <a:solidFill>
                            <a:srgbClr val="1E4BD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调度依据的信息</a:t>
                      </a:r>
                      <a:endParaRPr lang="zh-CN" sz="1150"/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1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gang 成员关系</a:t>
                      </a:r>
                      <a:endParaRPr lang="zh-CN" sz="1150"/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1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运行时协作与阻塞点</a:t>
                      </a:r>
                      <a:endParaRPr lang="zh-CN" sz="1150"/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1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NUMA 拓扑与线程放置</a:t>
                      </a:r>
                      <a:endParaRPr lang="zh-CN" sz="1150"/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100" b="1">
                          <a:solidFill>
                            <a:srgbClr val="0E2A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RVV Dirty 状态 + 阶段 hint</a:t>
                      </a:r>
                      <a:br>
                        <a:rPr lang="zh-CN" sz="1100" b="1">
                          <a:solidFill>
                            <a:srgbClr val="0E2A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zh-CN" sz="1100" b="1">
                          <a:solidFill>
                            <a:srgbClr val="0E2A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 runnable 实时状态</a:t>
                      </a:r>
                      <a:endParaRPr lang="zh-CN" sz="1100"/>
                    </a:p>
                  </a:txBody>
                  <a:tcPr marL="27432" marR="27432" marT="0" marB="0" anchor="ctr">
                    <a:solidFill>
                      <a:srgbClr val="E3ECFD"/>
                    </a:solidFill>
                  </a:tcPr>
                </a:tc>
              </a:tr>
              <a:tr h="537845">
                <a:tc>
                  <a:txBody>
                    <a:bodyPr wrap="square"/>
                    <a:lstStyle/>
                    <a:p>
                      <a:pPr algn="ctr"/>
                      <a:r>
                        <a:rPr lang="zh-CN" sz="1150" b="1">
                          <a:solidFill>
                            <a:srgbClr val="1E4BD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验证证据与边界</a:t>
                      </a:r>
                      <a:endParaRPr lang="zh-CN" sz="1150"/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1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自研系统对照；未基于标准 Linux</a:t>
                      </a:r>
                      <a:endParaRPr lang="zh-CN" sz="1150"/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1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过载测试；未覆盖 RVV / 推理阶段</a:t>
                      </a:r>
                      <a:endParaRPr lang="zh-CN" sz="1150"/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1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单框架重构；OS 仍视 worker 为独立任务</a:t>
                      </a:r>
                      <a:endParaRPr lang="zh-CN" sz="1150"/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100" b="1">
                          <a:solidFill>
                            <a:srgbClr val="0E2A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双实例 c=2/4/8 多轮对照 + 消融归因</a:t>
                      </a:r>
                      <a:endParaRPr lang="zh-CN" sz="1100"/>
                    </a:p>
                  </a:txBody>
                  <a:tcPr marL="27432" marR="27432" marT="0" marB="0" anchor="ctr">
                    <a:solidFill>
                      <a:srgbClr val="E3ECFD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268223" y="4711446"/>
            <a:ext cx="1828795" cy="329184"/>
          </a:xfrm>
          <a:prstGeom prst="roundRect">
            <a:avLst>
              <a:gd name="adj" fmla="val 30000"/>
            </a:avLst>
          </a:prstGeom>
          <a:solidFill>
            <a:srgbClr val="E2E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2607" y="4711446"/>
            <a:ext cx="1475228" cy="32918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本项目优势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>
            <p:custDataLst>
              <p:tags r:id="rId2"/>
            </p:custDataLst>
          </p:nvPr>
        </p:nvSpPr>
        <p:spPr>
          <a:xfrm>
            <a:off x="4114418" y="5109210"/>
            <a:ext cx="3694166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7" name="Oval 16"/>
          <p:cNvSpPr/>
          <p:nvPr>
            <p:custDataLst>
              <p:tags r:id="rId3"/>
            </p:custDataLst>
          </p:nvPr>
        </p:nvSpPr>
        <p:spPr>
          <a:xfrm>
            <a:off x="4333873" y="5335524"/>
            <a:ext cx="853437" cy="853437"/>
          </a:xfrm>
          <a:prstGeom prst="ellipse">
            <a:avLst/>
          </a:prstGeom>
          <a:solidFill>
            <a:srgbClr val="E4E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>
            <p:custDataLst>
              <p:tags r:id="rId4"/>
            </p:custDataLst>
          </p:nvPr>
        </p:nvSpPr>
        <p:spPr>
          <a:xfrm>
            <a:off x="4577713" y="5687949"/>
            <a:ext cx="365759" cy="115729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1E4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>
            <p:custDataLst>
              <p:tags r:id="rId5"/>
            </p:custDataLst>
          </p:nvPr>
        </p:nvSpPr>
        <p:spPr>
          <a:xfrm>
            <a:off x="4687440" y="5749671"/>
            <a:ext cx="146303" cy="46291"/>
          </a:xfrm>
          <a:prstGeom prst="roundRect">
            <a:avLst>
              <a:gd name="adj" fmla="val 15000"/>
            </a:avLst>
          </a:prstGeom>
          <a:solidFill>
            <a:srgbClr val="1E4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>
            <p:custDataLst>
              <p:tags r:id="rId6"/>
            </p:custDataLst>
          </p:nvPr>
        </p:nvSpPr>
        <p:spPr>
          <a:xfrm>
            <a:off x="4614289" y="5607939"/>
            <a:ext cx="48767" cy="68580"/>
          </a:xfrm>
          <a:prstGeom prst="roundRect">
            <a:avLst>
              <a:gd name="adj" fmla="val 0"/>
            </a:avLst>
          </a:prstGeom>
          <a:solidFill>
            <a:srgbClr val="1E4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>
            <p:custDataLst>
              <p:tags r:id="rId7"/>
            </p:custDataLst>
          </p:nvPr>
        </p:nvSpPr>
        <p:spPr>
          <a:xfrm>
            <a:off x="4614289" y="5815584"/>
            <a:ext cx="48767" cy="68580"/>
          </a:xfrm>
          <a:prstGeom prst="roundRect">
            <a:avLst>
              <a:gd name="adj" fmla="val 0"/>
            </a:avLst>
          </a:prstGeom>
          <a:solidFill>
            <a:srgbClr val="1E4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>
            <p:custDataLst>
              <p:tags r:id="rId8"/>
            </p:custDataLst>
          </p:nvPr>
        </p:nvSpPr>
        <p:spPr>
          <a:xfrm>
            <a:off x="4736208" y="5607939"/>
            <a:ext cx="48767" cy="68580"/>
          </a:xfrm>
          <a:prstGeom prst="roundRect">
            <a:avLst>
              <a:gd name="adj" fmla="val 0"/>
            </a:avLst>
          </a:prstGeom>
          <a:solidFill>
            <a:srgbClr val="1E4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>
            <p:custDataLst>
              <p:tags r:id="rId9"/>
            </p:custDataLst>
          </p:nvPr>
        </p:nvSpPr>
        <p:spPr>
          <a:xfrm>
            <a:off x="4736208" y="5815584"/>
            <a:ext cx="48767" cy="68580"/>
          </a:xfrm>
          <a:prstGeom prst="roundRect">
            <a:avLst>
              <a:gd name="adj" fmla="val 0"/>
            </a:avLst>
          </a:prstGeom>
          <a:solidFill>
            <a:srgbClr val="1E4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>
            <p:custDataLst>
              <p:tags r:id="rId10"/>
            </p:custDataLst>
          </p:nvPr>
        </p:nvSpPr>
        <p:spPr>
          <a:xfrm>
            <a:off x="4858128" y="5607939"/>
            <a:ext cx="48767" cy="68580"/>
          </a:xfrm>
          <a:prstGeom prst="roundRect">
            <a:avLst>
              <a:gd name="adj" fmla="val 0"/>
            </a:avLst>
          </a:prstGeom>
          <a:solidFill>
            <a:srgbClr val="1E4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>
            <p:custDataLst>
              <p:tags r:id="rId11"/>
            </p:custDataLst>
          </p:nvPr>
        </p:nvSpPr>
        <p:spPr>
          <a:xfrm>
            <a:off x="4858128" y="5815584"/>
            <a:ext cx="48767" cy="68580"/>
          </a:xfrm>
          <a:prstGeom prst="roundRect">
            <a:avLst>
              <a:gd name="adj" fmla="val 0"/>
            </a:avLst>
          </a:prstGeom>
          <a:solidFill>
            <a:srgbClr val="1E4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>
            <p:custDataLst>
              <p:tags r:id="rId12"/>
            </p:custDataLst>
          </p:nvPr>
        </p:nvSpPr>
        <p:spPr>
          <a:xfrm>
            <a:off x="5394575" y="5225796"/>
            <a:ext cx="2231130" cy="308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 Linux 落地</a:t>
            </a:r>
            <a:endParaRPr sz="140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>
            <p:custDataLst>
              <p:tags r:id="rId13"/>
            </p:custDataLst>
          </p:nvPr>
        </p:nvSpPr>
        <p:spPr>
          <a:xfrm>
            <a:off x="5394575" y="5554980"/>
            <a:ext cx="2231130" cy="582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基于标准 Linux 内核的 sched_ext / eBPF；不改 C 运行库，卸载即回默认调度</a:t>
            </a:r>
            <a:endParaRPr sz="11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>
            <p:custDataLst>
              <p:tags r:id="rId14"/>
            </p:custDataLst>
          </p:nvPr>
        </p:nvSpPr>
        <p:spPr>
          <a:xfrm>
            <a:off x="256783" y="5114925"/>
            <a:ext cx="3694166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Oval 28"/>
          <p:cNvSpPr/>
          <p:nvPr>
            <p:custDataLst>
              <p:tags r:id="rId15"/>
            </p:custDataLst>
          </p:nvPr>
        </p:nvSpPr>
        <p:spPr>
          <a:xfrm>
            <a:off x="476239" y="5341239"/>
            <a:ext cx="853437" cy="853437"/>
          </a:xfrm>
          <a:prstGeom prst="ellipse">
            <a:avLst/>
          </a:prstGeom>
          <a:solidFill>
            <a:srgbClr val="E4E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>
            <p:custDataLst>
              <p:tags r:id="rId16"/>
            </p:custDataLst>
          </p:nvPr>
        </p:nvCxnSpPr>
        <p:spPr>
          <a:xfrm flipV="1">
            <a:off x="720078" y="5485257"/>
            <a:ext cx="377951" cy="185166"/>
          </a:xfrm>
          <a:prstGeom prst="line">
            <a:avLst/>
          </a:prstGeom>
          <a:ln w="20320">
            <a:solidFill>
              <a:srgbClr val="1E4B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stCxn id="32" idx="5"/>
            <a:endCxn id="34" idx="1"/>
          </p:cNvCxnSpPr>
          <p:nvPr>
            <p:custDataLst>
              <p:tags r:id="rId17"/>
            </p:custDataLst>
          </p:nvPr>
        </p:nvCxnSpPr>
        <p:spPr>
          <a:xfrm>
            <a:off x="797548" y="5816473"/>
            <a:ext cx="113030" cy="115570"/>
          </a:xfrm>
          <a:prstGeom prst="line">
            <a:avLst/>
          </a:prstGeom>
          <a:ln w="20320">
            <a:solidFill>
              <a:srgbClr val="1E4B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>
            <p:custDataLst>
              <p:tags r:id="rId18"/>
            </p:custDataLst>
          </p:nvPr>
        </p:nvSpPr>
        <p:spPr>
          <a:xfrm>
            <a:off x="610350" y="5629275"/>
            <a:ext cx="219455" cy="219455"/>
          </a:xfrm>
          <a:prstGeom prst="ellipse">
            <a:avLst/>
          </a:prstGeom>
          <a:solidFill>
            <a:srgbClr val="1E4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>
            <p:custDataLst>
              <p:tags r:id="rId19"/>
            </p:custDataLst>
          </p:nvPr>
        </p:nvSpPr>
        <p:spPr>
          <a:xfrm>
            <a:off x="915276" y="5399659"/>
            <a:ext cx="219455" cy="219455"/>
          </a:xfrm>
          <a:prstGeom prst="ellipse">
            <a:avLst/>
          </a:prstGeom>
          <a:solidFill>
            <a:srgbClr val="1E4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>
            <p:custDataLst>
              <p:tags r:id="rId20"/>
            </p:custDataLst>
          </p:nvPr>
        </p:nvSpPr>
        <p:spPr>
          <a:xfrm>
            <a:off x="878446" y="5899785"/>
            <a:ext cx="219455" cy="219455"/>
          </a:xfrm>
          <a:prstGeom prst="ellipse">
            <a:avLst/>
          </a:prstGeom>
          <a:solidFill>
            <a:srgbClr val="1E4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>
            <p:custDataLst>
              <p:tags r:id="rId21"/>
            </p:custDataLst>
          </p:nvPr>
        </p:nvSpPr>
        <p:spPr>
          <a:xfrm>
            <a:off x="1536940" y="5231511"/>
            <a:ext cx="2231130" cy="308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状态与语义协同</a:t>
            </a:r>
            <a:endParaRPr sz="140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>
            <p:custDataLst>
              <p:tags r:id="rId22"/>
            </p:custDataLst>
          </p:nvPr>
        </p:nvSpPr>
        <p:spPr>
          <a:xfrm>
            <a:off x="1536940" y="5560695"/>
            <a:ext cx="2231130" cy="582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内核识别 RVV Dirty 状态，用户态发布 worker 与阶段提示；组内稳定推进、组间阶段仲裁</a:t>
            </a:r>
            <a:endParaRPr sz="11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>
            <p:custDataLst>
              <p:tags r:id="rId23"/>
            </p:custDataLst>
          </p:nvPr>
        </p:nvSpPr>
        <p:spPr>
          <a:xfrm>
            <a:off x="7949164" y="5109210"/>
            <a:ext cx="397458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8" name="Oval 37"/>
          <p:cNvSpPr/>
          <p:nvPr>
            <p:custDataLst>
              <p:tags r:id="rId24"/>
            </p:custDataLst>
          </p:nvPr>
        </p:nvSpPr>
        <p:spPr>
          <a:xfrm>
            <a:off x="8168619" y="5335524"/>
            <a:ext cx="853437" cy="853437"/>
          </a:xfrm>
          <a:prstGeom prst="ellipse">
            <a:avLst/>
          </a:prstGeom>
          <a:solidFill>
            <a:srgbClr val="E4E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>
            <p:custDataLst>
              <p:tags r:id="rId25"/>
            </p:custDataLst>
          </p:nvPr>
        </p:nvSpPr>
        <p:spPr>
          <a:xfrm>
            <a:off x="8388075" y="5760974"/>
            <a:ext cx="97535" cy="96012"/>
          </a:xfrm>
          <a:prstGeom prst="roundRect">
            <a:avLst>
              <a:gd name="adj" fmla="val 10000"/>
            </a:avLst>
          </a:prstGeom>
          <a:solidFill>
            <a:srgbClr val="1E4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>
            <p:custDataLst>
              <p:tags r:id="rId26"/>
            </p:custDataLst>
          </p:nvPr>
        </p:nvSpPr>
        <p:spPr>
          <a:xfrm>
            <a:off x="8522186" y="5678678"/>
            <a:ext cx="97535" cy="178307"/>
          </a:xfrm>
          <a:prstGeom prst="roundRect">
            <a:avLst>
              <a:gd name="adj" fmla="val 10000"/>
            </a:avLst>
          </a:prstGeom>
          <a:solidFill>
            <a:srgbClr val="1E4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>
            <p:custDataLst>
              <p:tags r:id="rId27"/>
            </p:custDataLst>
          </p:nvPr>
        </p:nvSpPr>
        <p:spPr>
          <a:xfrm>
            <a:off x="8656298" y="5596382"/>
            <a:ext cx="97535" cy="260603"/>
          </a:xfrm>
          <a:prstGeom prst="roundRect">
            <a:avLst>
              <a:gd name="adj" fmla="val 10000"/>
            </a:avLst>
          </a:prstGeom>
          <a:solidFill>
            <a:srgbClr val="1E4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>
            <p:custDataLst>
              <p:tags r:id="rId28"/>
            </p:custDataLst>
          </p:nvPr>
        </p:nvSpPr>
        <p:spPr>
          <a:xfrm>
            <a:off x="9229320" y="5225796"/>
            <a:ext cx="2511545" cy="308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测量闭环</a:t>
            </a:r>
            <a:endParaRPr sz="140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>
            <p:custDataLst>
              <p:tags r:id="rId29"/>
            </p:custDataLst>
          </p:nvPr>
        </p:nvSpPr>
        <p:spPr>
          <a:xfrm>
            <a:off x="9229320" y="5554980"/>
            <a:ext cx="2511545" cy="582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先证伪寄存器搬运假设，再定位 libgomp 自旋；多并发多轮对照与消融归因</a:t>
            </a:r>
            <a:endParaRPr sz="11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0" y="6343650"/>
            <a:ext cx="12191969" cy="308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对比依据项目说明书与各工作原文；本项目数据来自 K1 RVV 1.0 实机、双实例 2/4/8 并发正式对照；不比较不同平台的绝对性能。</a:t>
            </a:r>
            <a:endParaRPr sz="130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eck_hea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69" cy="5692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0143" y="603503"/>
            <a:ext cx="14630363" cy="861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28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三、</a:t>
            </a:r>
            <a:r>
              <a:rPr lang="zh-CN" altLang="en-US" sz="2800" dirty="0">
                <a:sym typeface="+mn-ea"/>
              </a:rPr>
              <a:t>总结展望 | 可复用的框架与结果</a:t>
            </a:r>
            <a:r>
              <a:rPr lang="zh-CN" altLang="en-US" sz="2800" dirty="0">
                <a:cs typeface="Arial" panose="020B0604020202020204" pitchFamily="34" charset="0"/>
                <a:sym typeface="+mn-ea"/>
              </a:rPr>
              <a:t/>
            </a:r>
            <a:endParaRPr lang="zh-CN" altLang="en-US" sz="2800" dirty="0"/>
          </a:p>
          <a:p>
            <a:pPr algn="l"/>
            <a:r>
              <a:rPr lang="en-US" altLang="zh-CN" sz="28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endParaRPr sz="280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6032" y="1412748"/>
            <a:ext cx="2828239" cy="4892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1071" y="1467612"/>
            <a:ext cx="2657246" cy="418795"/>
          </a:xfrm>
          <a:prstGeom prst="roundRect">
            <a:avLst>
              <a:gd name="adj" fmla="val 28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K1 Linux 6.6 内核基础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75488" y="2212848"/>
            <a:ext cx="566928" cy="315468"/>
          </a:xfrm>
          <a:prstGeom prst="roundRect">
            <a:avLst>
              <a:gd name="adj" fmla="val 30000"/>
            </a:avLst>
          </a:prstGeom>
          <a:solidFill>
            <a:srgbClr val="E2E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产出</a:t>
            </a:r>
            <a:endParaRPr sz="110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" y="2226564"/>
            <a:ext cx="1792224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可加载 sched_ext 的 K1 6.6 内核基础（BTF、cgroup 与构建适配）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75488" y="3712463"/>
            <a:ext cx="566928" cy="315468"/>
          </a:xfrm>
          <a:prstGeom prst="roundRect">
            <a:avLst>
              <a:gd name="adj" fmla="val 30000"/>
            </a:avLst>
          </a:prstGeom>
          <a:solidFill>
            <a:srgbClr val="E2E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形态</a:t>
            </a:r>
            <a:endParaRPr sz="110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15568" y="3726179"/>
            <a:ext cx="1792224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两个内核补丁 + 镜像 / 模块构建与部署说明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75488" y="5212080"/>
            <a:ext cx="566928" cy="315468"/>
          </a:xfrm>
          <a:prstGeom prst="roundRect">
            <a:avLst>
              <a:gd name="adj" fmla="val 30000"/>
            </a:avLst>
          </a:prstGeom>
          <a:solidFill>
            <a:srgbClr val="E2E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</a:t>
            </a:r>
            <a:endParaRPr sz="110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5568" y="5225796"/>
            <a:ext cx="1792224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 Linux 6.6 厂商树可参照同一回移路径；卸载后回到默认调度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475488" y="3621023"/>
            <a:ext cx="2389327" cy="0"/>
          </a:xfrm>
          <a:prstGeom prst="line">
            <a:avLst/>
          </a:prstGeom>
          <a:ln w="12700">
            <a:solidFill>
              <a:srgbClr val="D5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75488" y="5120640"/>
            <a:ext cx="2389327" cy="0"/>
          </a:xfrm>
          <a:prstGeom prst="line">
            <a:avLst/>
          </a:prstGeom>
          <a:ln w="12700">
            <a:solidFill>
              <a:srgbClr val="D5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57569" y="1412748"/>
            <a:ext cx="2828239" cy="4892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42608" y="1467612"/>
            <a:ext cx="2657246" cy="418795"/>
          </a:xfrm>
          <a:prstGeom prst="roundRect">
            <a:avLst>
              <a:gd name="adj" fmla="val 28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通用调度提示接口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77025" y="2212848"/>
            <a:ext cx="566928" cy="315468"/>
          </a:xfrm>
          <a:prstGeom prst="roundRect">
            <a:avLst>
              <a:gd name="adj" fmla="val 30000"/>
            </a:avLst>
          </a:prstGeom>
          <a:solidFill>
            <a:srgbClr val="E2E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产出</a:t>
            </a:r>
            <a:endParaRPr sz="110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17105" y="2226564"/>
            <a:ext cx="1792224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通用提示接口：worker 身份注册 + PREFILL / DECODE / MIXED / IDLE 阶段声明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377025" y="3712463"/>
            <a:ext cx="566928" cy="315468"/>
          </a:xfrm>
          <a:prstGeom prst="roundRect">
            <a:avLst>
              <a:gd name="adj" fmla="val 30000"/>
            </a:avLst>
          </a:prstGeom>
          <a:solidFill>
            <a:srgbClr val="E2E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形态</a:t>
            </a:r>
            <a:endParaRPr sz="110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17105" y="3726179"/>
            <a:ext cx="1792224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版本化 ABI 头文件 + mmapable BPF map；内核侧 RVV Dirty 两级识别兜底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77025" y="5212080"/>
            <a:ext cx="566928" cy="315468"/>
          </a:xfrm>
          <a:prstGeom prst="roundRect">
            <a:avLst>
              <a:gd name="adj" fmla="val 30000"/>
            </a:avLst>
          </a:prstGeom>
          <a:solidFill>
            <a:srgbClr val="E2E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</a:t>
            </a:r>
            <a:endParaRPr sz="110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17105" y="5225796"/>
            <a:ext cx="1792224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其他推理框架或调度器按 ABI 接入即可；hint 缺失 / 失效时自动回退，不影响原流程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6377025" y="3621023"/>
            <a:ext cx="2389327" cy="0"/>
          </a:xfrm>
          <a:prstGeom prst="line">
            <a:avLst/>
          </a:prstGeom>
          <a:ln w="12700">
            <a:solidFill>
              <a:srgbClr val="D5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377025" y="5120640"/>
            <a:ext cx="2389327" cy="0"/>
          </a:xfrm>
          <a:prstGeom prst="line">
            <a:avLst/>
          </a:prstGeom>
          <a:ln w="12700">
            <a:solidFill>
              <a:srgbClr val="D5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08338" y="1412748"/>
            <a:ext cx="2828239" cy="4892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93377" y="1467612"/>
            <a:ext cx="2657246" cy="418795"/>
          </a:xfrm>
          <a:prstGeom prst="roundRect">
            <a:avLst>
              <a:gd name="adj" fmla="val 28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测试框架与验证闭环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9327794" y="2212848"/>
            <a:ext cx="566928" cy="315468"/>
          </a:xfrm>
          <a:prstGeom prst="roundRect">
            <a:avLst>
              <a:gd name="adj" fmla="val 30000"/>
            </a:avLst>
          </a:prstGeom>
          <a:solidFill>
            <a:srgbClr val="E2E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产出</a:t>
            </a:r>
            <a:endParaRPr sz="110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967874" y="2226564"/>
            <a:ext cx="1792224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完整测试框架：rvv_sched_cost 观测 + 统一多实例 benchmark + 门禁与统计口径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327794" y="3712463"/>
            <a:ext cx="566928" cy="315468"/>
          </a:xfrm>
          <a:prstGeom prst="roundRect">
            <a:avLst>
              <a:gd name="adj" fmla="val 30000"/>
            </a:avLst>
          </a:prstGeom>
          <a:solidFill>
            <a:srgbClr val="E2E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形态</a:t>
            </a:r>
            <a:endParaRPr sz="110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967874" y="3726179"/>
            <a:ext cx="1792224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CO-RE eBPF 多档采集、流式 Token 时间线、相位对齐与结果归档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327794" y="5212080"/>
            <a:ext cx="566928" cy="315468"/>
          </a:xfrm>
          <a:prstGeom prst="roundRect">
            <a:avLst>
              <a:gd name="adj" fmla="val 30000"/>
            </a:avLst>
          </a:prstGeom>
          <a:solidFill>
            <a:srgbClr val="E2E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</a:t>
            </a:r>
            <a:endParaRPr sz="110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967874" y="5225796"/>
            <a:ext cx="1792224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观测 → 门禁 → 归因 → 回归形成闭环；换负载或平台即可复测（x86 适配即复用该流程）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9327794" y="3621023"/>
            <a:ext cx="2389327" cy="0"/>
          </a:xfrm>
          <a:prstGeom prst="line">
            <a:avLst/>
          </a:prstGeom>
          <a:ln w="12700">
            <a:solidFill>
              <a:srgbClr val="D5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327794" y="5120640"/>
            <a:ext cx="2389327" cy="0"/>
          </a:xfrm>
          <a:prstGeom prst="line">
            <a:avLst/>
          </a:prstGeom>
          <a:ln w="12700">
            <a:solidFill>
              <a:srgbClr val="D5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7_v"/>
          <p:cNvSpPr/>
          <p:nvPr/>
        </p:nvSpPr>
        <p:spPr>
          <a:xfrm>
            <a:off x="3206800" y="1412748"/>
            <a:ext cx="2828239" cy="4892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9" name="Rounded Rectangle 8_v"/>
          <p:cNvSpPr/>
          <p:nvPr/>
        </p:nvSpPr>
        <p:spPr>
          <a:xfrm>
            <a:off x="3291840" y="1467612"/>
            <a:ext cx="2657246" cy="418795"/>
          </a:xfrm>
          <a:prstGeom prst="roundRect">
            <a:avLst>
              <a:gd name="adj" fmla="val 28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可复用调度器框架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ounded Rectangle 9_v"/>
          <p:cNvSpPr/>
          <p:nvPr/>
        </p:nvSpPr>
        <p:spPr>
          <a:xfrm>
            <a:off x="3426256" y="2212848"/>
            <a:ext cx="566928" cy="315468"/>
          </a:xfrm>
          <a:prstGeom prst="roundRect">
            <a:avLst>
              <a:gd name="adj" fmla="val 30000"/>
            </a:avLst>
          </a:prstGeom>
          <a:solidFill>
            <a:srgbClr val="E2E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产出</a:t>
            </a:r>
            <a:endParaRPr sz="110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Rounded Rectangle 11_v"/>
          <p:cNvSpPr/>
          <p:nvPr/>
        </p:nvSpPr>
        <p:spPr>
          <a:xfrm>
            <a:off x="3426256" y="3712463"/>
            <a:ext cx="566928" cy="315468"/>
          </a:xfrm>
          <a:prstGeom prst="roundRect">
            <a:avLst>
              <a:gd name="adj" fmla="val 30000"/>
            </a:avLst>
          </a:prstGeom>
          <a:solidFill>
            <a:srgbClr val="E2E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形态</a:t>
            </a:r>
            <a:endParaRPr sz="110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ounded Rectangle 13_v"/>
          <p:cNvSpPr/>
          <p:nvPr/>
        </p:nvSpPr>
        <p:spPr>
          <a:xfrm>
            <a:off x="3426256" y="5212080"/>
            <a:ext cx="566928" cy="315468"/>
          </a:xfrm>
          <a:prstGeom prst="roundRect">
            <a:avLst>
              <a:gd name="adj" fmla="val 30000"/>
            </a:avLst>
          </a:prstGeom>
          <a:solidFill>
            <a:srgbClr val="E2E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</a:t>
            </a:r>
            <a:endParaRPr sz="110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10_v"/>
          <p:cNvSpPr txBox="1"/>
          <p:nvPr/>
        </p:nvSpPr>
        <p:spPr>
          <a:xfrm>
            <a:off x="4066336" y="2226564"/>
            <a:ext cx="1792224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sched_ext 调度器实现：struct_ops、per-team / per-CPU VDSQ、稳定 CPU 映射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12_v"/>
          <p:cNvSpPr txBox="1"/>
          <p:nvPr/>
        </p:nvSpPr>
        <p:spPr>
          <a:xfrm>
            <a:off x="4066336" y="3726179"/>
            <a:ext cx="1792224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eBPF / C 源码 + loader 与在线控制工具（策略、参数、CPU 映射可配）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14_v"/>
          <p:cNvSpPr txBox="1"/>
          <p:nvPr/>
        </p:nvSpPr>
        <p:spPr>
          <a:xfrm>
            <a:off x="4066336" y="5225796"/>
            <a:ext cx="1792224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第三方可在同一 loader 与控制接口上实现自有策略；默认参数与回退边界可直接沿用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6" name="Connector 15_v"/>
          <p:cNvCxnSpPr/>
          <p:nvPr/>
        </p:nvCxnSpPr>
        <p:spPr>
          <a:xfrm>
            <a:off x="3426256" y="3621023"/>
            <a:ext cx="2389327" cy="0"/>
          </a:xfrm>
          <a:prstGeom prst="line">
            <a:avLst/>
          </a:prstGeom>
          <a:ln w="12700">
            <a:solidFill>
              <a:srgbClr val="D5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16_v"/>
          <p:cNvCxnSpPr/>
          <p:nvPr/>
        </p:nvCxnSpPr>
        <p:spPr>
          <a:xfrm>
            <a:off x="3426256" y="5120640"/>
            <a:ext cx="2389327" cy="0"/>
          </a:xfrm>
          <a:prstGeom prst="line">
            <a:avLst/>
          </a:prstGeom>
          <a:ln w="12700">
            <a:solidFill>
              <a:srgbClr val="D5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69" cy="5692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0143" y="603503"/>
            <a:ext cx="14630363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lang="zh-CN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三</a:t>
            </a:r>
            <a:r>
              <a:rPr lang="zh-CN" altLang="en-US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、</a:t>
            </a:r>
            <a:r>
              <a:rPr lang="zh-CN" altLang="en-US" sz="2800" dirty="0">
                <a:sym typeface="+mn-ea"/>
              </a:rPr>
              <a:t>总结</a:t>
            </a:r>
            <a:r>
              <a:rPr lang="zh-CN" altLang="en-US" sz="2800" dirty="0">
                <a:cs typeface="Arial" panose="020B0604020202020204" pitchFamily="34" charset="0"/>
                <a:sym typeface="+mn-ea"/>
              </a:rPr>
              <a:t>展望</a:t>
            </a:r>
            <a:r>
              <a:rPr lang="zh-CN" altLang="en-US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|</a:t>
            </a:r>
            <a:r>
              <a: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x86 </a:t>
            </a:r>
            <a:r>
              <a:rPr lang="zh-CN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展望</a:t>
            </a:r>
            <a:endParaRPr lang="zh-CN" sz="2800" b="1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90143" y="1385316"/>
            <a:ext cx="11411683" cy="644652"/>
          </a:xfrm>
          <a:prstGeom prst="roundRect">
            <a:avLst>
              <a:gd name="adj" fmla="val 18000"/>
            </a:avLst>
          </a:prstGeom>
          <a:solidFill>
            <a:srgbClr val="E8EDFC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6446" y="1467612"/>
            <a:ext cx="1170429" cy="4800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实验设置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53179" y="1440180"/>
            <a:ext cx="9826727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0E2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i5-10200H（4C / 8T、仅 AVX2，无 AVX-512 / AMX）；llama-server -t 4 -tb 4；128 prompt，A 输出第 4 个 token 后注入 B</a:t>
            </a:r>
            <a:endParaRPr sz="1050" b="1">
              <a:solidFill>
                <a:srgbClr val="0E2A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>
                <a:solidFill>
                  <a:srgbClr val="4A5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对照：CFS 4 / 8 工作线程 · CFS 4+4+4+4 超售 · infersched（x86 调度适配）</a:t>
            </a:r>
            <a:endParaRPr sz="950" b="0">
              <a:solidFill>
                <a:srgbClr val="4A5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90143" y="2139696"/>
            <a:ext cx="5510770" cy="334670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6446" y="2221992"/>
            <a:ext cx="5218162" cy="384048"/>
          </a:xfrm>
          <a:prstGeom prst="roundRect">
            <a:avLst>
              <a:gd name="adj" fmla="val 32000"/>
            </a:avLst>
          </a:prstGeom>
          <a:solidFill>
            <a:srgbClr val="E2E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3982" y="2256282"/>
            <a:ext cx="1267964" cy="3154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性能对比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23866" y="2256282"/>
            <a:ext cx="3706358" cy="3154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E2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CFS 线程规模 vs 4+4+4+4 超售</a:t>
            </a:r>
            <a:endParaRPr sz="1050" b="1">
              <a:solidFill>
                <a:srgbClr val="0E2A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60830" y="2715768"/>
          <a:ext cx="5169394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1473"/>
                <a:gridCol w="723715"/>
                <a:gridCol w="1654206"/>
              </a:tblGrid>
              <a:tr h="29626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配置</a:t>
                      </a:r>
                      <a:endParaRPr sz="9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output</a:t>
                      </a:r>
                      <a:endParaRPr sz="9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Aggregate TPS</a:t>
                      </a:r>
                      <a:endParaRPr sz="9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</a:tr>
              <a:tr h="29626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E2A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CFS · 4 工作线程</a:t>
                      </a:r>
                      <a:endParaRPr sz="950" b="1">
                        <a:solidFill>
                          <a:srgbClr val="0E2A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256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8.3479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</a:tr>
              <a:tr h="29626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E2A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CFS · 8 线程（4+4）</a:t>
                      </a:r>
                      <a:endParaRPr sz="950" b="1">
                        <a:solidFill>
                          <a:srgbClr val="0E2A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256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8.9073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</a:tr>
              <a:tr h="29626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E2A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CFS · 4+4+4+4（2× 超售）</a:t>
                      </a:r>
                      <a:endParaRPr sz="950" b="1">
                        <a:solidFill>
                          <a:srgbClr val="0E2A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2.8574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</a:tr>
              <a:tr h="29626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E2A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infersched · 4+4+4+4</a:t>
                      </a:r>
                      <a:endParaRPr sz="950" b="1">
                        <a:solidFill>
                          <a:srgbClr val="0E2A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6.9694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85214" y="4279392"/>
            <a:ext cx="5120627" cy="4251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4A5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/ 8 线程为单 / 双实例，无超售；4+4+4+4 为四实例 16 worker 对应 8 逻辑 CPU，属 2× runnable 超售；后两行同口径，可直接比较</a:t>
            </a:r>
            <a:endParaRPr sz="850" b="0">
              <a:solidFill>
                <a:srgbClr val="4A5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85214" y="4786883"/>
            <a:ext cx="5120627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2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无超售时 CFS 线程扩展平稳（4→8 线程：8.3479→8.9073）；4+4+4+4 超售后 CFS 降至 2.8574，infersched 提升至 6.9694</a:t>
            </a:r>
            <a:endParaRPr sz="900" b="0">
              <a:solidFill>
                <a:srgbClr val="0E2A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095984" y="2139696"/>
            <a:ext cx="5705841" cy="334670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42288" y="2221992"/>
            <a:ext cx="5413234" cy="384048"/>
          </a:xfrm>
          <a:prstGeom prst="roundRect">
            <a:avLst>
              <a:gd name="adj" fmla="val 32000"/>
            </a:avLst>
          </a:prstGeom>
          <a:solidFill>
            <a:srgbClr val="E2E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39824" y="2256282"/>
            <a:ext cx="1365500" cy="3154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超线程视角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27244" y="2256282"/>
            <a:ext cx="3803894" cy="3154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E2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套 AVX2 执行单元与 8 个逻辑 CPU：4+4 的瓶颈在哪里</a:t>
            </a:r>
            <a:endParaRPr sz="1050" b="1">
              <a:solidFill>
                <a:srgbClr val="0E2A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91056" y="2729484"/>
            <a:ext cx="1219196" cy="8778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56" y="2770632"/>
            <a:ext cx="1219196" cy="150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0E2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物理核 0</a:t>
            </a:r>
            <a:endParaRPr sz="750" b="1">
              <a:solidFill>
                <a:srgbClr val="0E2A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49551" y="2976372"/>
            <a:ext cx="902205" cy="205739"/>
          </a:xfrm>
          <a:prstGeom prst="roundRect">
            <a:avLst>
              <a:gd name="adj" fmla="val 35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AVX2</a:t>
            </a:r>
            <a:endParaRPr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91056" y="3223260"/>
            <a:ext cx="1219196" cy="150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>
                <a:solidFill>
                  <a:srgbClr val="4A5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w0 · w1</a:t>
            </a:r>
            <a:endParaRPr sz="700" b="0">
              <a:solidFill>
                <a:srgbClr val="4A5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644364" y="2729484"/>
            <a:ext cx="1219196" cy="8778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44364" y="2770632"/>
            <a:ext cx="1219196" cy="150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0E2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物理核 1</a:t>
            </a:r>
            <a:endParaRPr sz="750" b="1">
              <a:solidFill>
                <a:srgbClr val="0E2A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802860" y="2976372"/>
            <a:ext cx="902205" cy="205739"/>
          </a:xfrm>
          <a:prstGeom prst="roundRect">
            <a:avLst>
              <a:gd name="adj" fmla="val 35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AVX2</a:t>
            </a:r>
            <a:endParaRPr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44364" y="3223260"/>
            <a:ext cx="1219196" cy="150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>
                <a:solidFill>
                  <a:srgbClr val="4A5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w2 · w3</a:t>
            </a:r>
            <a:endParaRPr sz="700" b="0">
              <a:solidFill>
                <a:srgbClr val="4A5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997673" y="2729484"/>
            <a:ext cx="1219196" cy="8778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97673" y="2770632"/>
            <a:ext cx="1219196" cy="150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0E2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物理核 2</a:t>
            </a:r>
            <a:endParaRPr sz="750" b="1">
              <a:solidFill>
                <a:srgbClr val="0E2A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156169" y="2976372"/>
            <a:ext cx="902205" cy="205739"/>
          </a:xfrm>
          <a:prstGeom prst="roundRect">
            <a:avLst>
              <a:gd name="adj" fmla="val 35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AVX2</a:t>
            </a:r>
            <a:endParaRPr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997673" y="3223260"/>
            <a:ext cx="1219196" cy="150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>
                <a:solidFill>
                  <a:srgbClr val="4A5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w4 · w5</a:t>
            </a:r>
            <a:endParaRPr sz="700" b="0">
              <a:solidFill>
                <a:srgbClr val="4A5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10350982" y="2729484"/>
            <a:ext cx="1219196" cy="8778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50982" y="2770632"/>
            <a:ext cx="1219196" cy="150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0E2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物理核 3</a:t>
            </a:r>
            <a:endParaRPr sz="750" b="1">
              <a:solidFill>
                <a:srgbClr val="0E2A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10509477" y="2976372"/>
            <a:ext cx="902205" cy="205739"/>
          </a:xfrm>
          <a:prstGeom prst="roundRect">
            <a:avLst>
              <a:gd name="adj" fmla="val 35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AVX2</a:t>
            </a:r>
            <a:endParaRPr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350982" y="3223260"/>
            <a:ext cx="1219196" cy="150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>
                <a:solidFill>
                  <a:srgbClr val="4A5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w6 · w7</a:t>
            </a:r>
            <a:endParaRPr sz="700" b="0">
              <a:solidFill>
                <a:srgbClr val="4A5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291056" y="3662172"/>
            <a:ext cx="531569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4A5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物理核 → 4 套 AVX2 执行单元；SMT 向 OS 暴露 8 个逻辑 CPU</a:t>
            </a:r>
            <a:endParaRPr sz="850" b="0">
              <a:solidFill>
                <a:srgbClr val="4A5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315440" y="3977640"/>
            <a:ext cx="5266930" cy="1399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95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4+4 worker 与 8 个逻辑 CPU 一一对应，调度器视角为「8 runnable / 8 CPU」，不存在 runnable 超售，不形成 barrier convoy（CFS 自旋仅 4.86%）</a:t>
            </a:r>
            <a:endParaRPr sz="9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95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同一物理核上的两个 SMT 线程共享 AVX2 后端、缓存与访存带宽：</a:t>
            </a:r>
            <a:r>
              <a:rPr sz="95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单请求速度下降近半，系统总吞吐仅 +6.7%</a:t>
            </a:r>
            <a:endParaRPr sz="9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95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4+4 的瓶颈在执行资源竞争（微架构）而非调度超售（OS）；4+4+4+4 将 16 个 worker 放入 8 个逻辑 CPU 后才转为后者</a:t>
            </a:r>
            <a:endParaRPr sz="9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390143" y="5623559"/>
            <a:ext cx="11411683" cy="699515"/>
          </a:xfrm>
          <a:prstGeom prst="roundRect">
            <a:avLst>
              <a:gd name="adj" fmla="val 14000"/>
            </a:avLst>
          </a:prstGeom>
          <a:solidFill>
            <a:srgbClr val="E8EDFC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60830" y="5719572"/>
            <a:ext cx="975357" cy="50749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706875" y="5650992"/>
            <a:ext cx="9899879" cy="6446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E2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x86 初步验证：4+4+4+4 超售下 CFS 2.8574 → infersched 6.9694（+143.9%）；调度方法不依赖特定架构</a:t>
            </a:r>
            <a:endParaRPr sz="1150" b="1">
              <a:solidFill>
                <a:srgbClr val="0E2A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>
                <a:solidFill>
                  <a:srgbClr val="4A5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 x86 平台仅支持 AVX2，不含 AVX-512 / AMX 等更宽向量指令集；与 RVV VLA 的完整扩展状态对照留作后续展望</a:t>
            </a:r>
            <a:endParaRPr sz="950" b="0">
              <a:solidFill>
                <a:srgbClr val="4A5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eck_hea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69" cy="5692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0143" y="603503"/>
            <a:ext cx="14630363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三、总结展望 | 视频演示</a:t>
            </a:r>
            <a:endParaRPr lang="zh-CN" altLang="en-US" sz="28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3" name="短的演示_8x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329055" y="1237615"/>
            <a:ext cx="9534525" cy="53632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69" cy="569214"/>
          </a:xfrm>
          <a:prstGeom prst="rect">
            <a:avLst/>
          </a:prstGeom>
        </p:spPr>
      </p:pic>
      <p:sp>
        <p:nvSpPr>
          <p:cNvPr id="3" name="TitleNew"/>
          <p:cNvSpPr txBox="1"/>
          <p:nvPr/>
        </p:nvSpPr>
        <p:spPr>
          <a:xfrm>
            <a:off x="393192" y="603504"/>
            <a:ext cx="14630363" cy="861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28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三、</a:t>
            </a:r>
            <a:r>
              <a:rPr lang="zh-CN" altLang="en-US" sz="2800" dirty="0">
                <a:sym typeface="+mn-ea"/>
              </a:rPr>
              <a:t>总结展望 | 结论与展望</a:t>
            </a:r>
            <a:endParaRPr lang="zh-CN" altLang="en-US" sz="2800" dirty="0"/>
          </a:p>
          <a:p>
            <a:pPr algn="l"/>
            <a:r>
              <a:rPr lang="en-US" altLang="zh-CN" sz="28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endParaRPr sz="280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BarBottom"/>
          <p:cNvSpPr/>
          <p:nvPr/>
        </p:nvSpPr>
        <p:spPr>
          <a:xfrm>
            <a:off x="393192" y="5623560"/>
            <a:ext cx="11411712" cy="6949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Rounded Rectangle 7"/>
          <p:cNvSpPr/>
          <p:nvPr>
            <p:custDataLst>
              <p:tags r:id="rId2"/>
            </p:custDataLst>
          </p:nvPr>
        </p:nvSpPr>
        <p:spPr>
          <a:xfrm>
            <a:off x="256032" y="1412748"/>
            <a:ext cx="3812133" cy="40919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Rounded Rectangle 8"/>
          <p:cNvSpPr/>
          <p:nvPr>
            <p:custDataLst>
              <p:tags r:id="rId3"/>
            </p:custDataLst>
          </p:nvPr>
        </p:nvSpPr>
        <p:spPr>
          <a:xfrm>
            <a:off x="341071" y="1467612"/>
            <a:ext cx="3641140" cy="418795"/>
          </a:xfrm>
          <a:prstGeom prst="roundRect">
            <a:avLst>
              <a:gd name="adj" fmla="val 28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核心结论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10"/>
          <p:cNvSpPr txBox="1"/>
          <p:nvPr>
            <p:custDataLst>
              <p:tags r:id="rId4"/>
            </p:custDataLst>
          </p:nvPr>
        </p:nvSpPr>
        <p:spPr>
          <a:xfrm>
            <a:off x="530352" y="2057400"/>
            <a:ext cx="3263493" cy="2914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 状态开销已完成量化：</a:t>
            </a: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rvv_sched_cost 使 V 保存/恢复路径可逐次统计；restore 省略实验把 Vector 数据搬运减少 48.4%，给出该类开销的实测基准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00" b="1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 V 状态延伸到同步等待：</a:t>
            </a: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libgomp barrier 有界自旋的 CPU 时间 −72.35%（311 → 86 s），可解释用户态 CPU 降幅的 90.18%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200" b="1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双实例 c=2/4/8：</a:t>
            </a: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TPS +54.9% / +30.7% / +25.6%；平均 TTFT −39.0% / −42.0% / −42.2%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200" b="1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调度开销同步下降：</a:t>
            </a: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上下文切换 −93.1% ~ −96.4%；对称满载下接近经验理想吞吐（99.20%）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200" b="1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跨架构有效：</a:t>
            </a: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x86 4+4+4+4 超售 2.8574 → 6.9694 TPS（+143.9%）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>
            <p:custDataLst>
              <p:tags r:id="rId5"/>
            </p:custDataLst>
          </p:nvPr>
        </p:nvSpPr>
        <p:spPr>
          <a:xfrm>
            <a:off x="4189780" y="1412748"/>
            <a:ext cx="3812133" cy="40919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Rounded Rectangle 8"/>
          <p:cNvSpPr/>
          <p:nvPr>
            <p:custDataLst>
              <p:tags r:id="rId6"/>
            </p:custDataLst>
          </p:nvPr>
        </p:nvSpPr>
        <p:spPr>
          <a:xfrm>
            <a:off x="4274820" y="1467612"/>
            <a:ext cx="3641140" cy="418795"/>
          </a:xfrm>
          <a:prstGeom prst="roundRect">
            <a:avLst>
              <a:gd name="adj" fmla="val 28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项目贡献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10"/>
          <p:cNvSpPr txBox="1"/>
          <p:nvPr>
            <p:custDataLst>
              <p:tags r:id="rId7"/>
            </p:custDataLst>
          </p:nvPr>
        </p:nvSpPr>
        <p:spPr>
          <a:xfrm>
            <a:off x="4464100" y="2057400"/>
            <a:ext cx="3263493" cy="333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完整内核链路：</a:t>
            </a: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K1 Linux 6.6 回移 sched_ext + eBPF struct_ops 策略 + 在线控制工具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200" b="1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状态与语义双感知：</a:t>
            </a: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RVV Dirty 识别 + worker / PREFILL·DECODE 提示（mmapable BPF map）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200" b="1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可复现的观测与基准：</a:t>
            </a: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rvv_sched_cost 候选/实际分离、futex 归因 + 315 轮有效对照与门禁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200" b="1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工程产物可复用：</a:t>
            </a: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内核与 llama.cpp 补丁集、构建部署文档；卸载即回默认调度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7"/>
          <p:cNvSpPr/>
          <p:nvPr>
            <p:custDataLst>
              <p:tags r:id="rId8"/>
            </p:custDataLst>
          </p:nvPr>
        </p:nvSpPr>
        <p:spPr>
          <a:xfrm>
            <a:off x="8123529" y="1412748"/>
            <a:ext cx="3812133" cy="40919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Rounded Rectangle 8"/>
          <p:cNvSpPr/>
          <p:nvPr>
            <p:custDataLst>
              <p:tags r:id="rId9"/>
            </p:custDataLst>
          </p:nvPr>
        </p:nvSpPr>
        <p:spPr>
          <a:xfrm>
            <a:off x="8208568" y="1467612"/>
            <a:ext cx="3641140" cy="418795"/>
          </a:xfrm>
          <a:prstGeom prst="roundRect">
            <a:avLst>
              <a:gd name="adj" fmla="val 28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后续展望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0"/>
          <p:cNvSpPr txBox="1"/>
          <p:nvPr>
            <p:custDataLst>
              <p:tags r:id="rId10"/>
            </p:custDataLst>
          </p:nvPr>
        </p:nvSpPr>
        <p:spPr>
          <a:xfrm>
            <a:off x="8397849" y="2057400"/>
            <a:ext cx="3263493" cy="333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平台与负载：</a:t>
            </a: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扩展到更多 RISC-V 处理器、模型规模与量化格式、真实到达轨迹与能耗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200" b="1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跨架构验证：</a:t>
            </a: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 x86 AMX / AVX-512 与 ARM SVE2 上验证同类扩展状态感知调度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200" b="1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接口通用化：</a:t>
            </a: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worker 注册与阶段提示整理为通用用户态库，探索 tracepoint / uprobe 低侵入适配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200" b="1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内核与参数：</a:t>
            </a: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迁移到主线 sched_ext（Linux 6.12 及后续）；在线参数选择，低频有界、可快速回退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9"/>
          <p:cNvSpPr/>
          <p:nvPr/>
        </p:nvSpPr>
        <p:spPr>
          <a:xfrm>
            <a:off x="557784" y="5715000"/>
            <a:ext cx="978408" cy="502920"/>
          </a:xfrm>
          <a:prstGeom prst="roundRect">
            <a:avLst>
              <a:gd name="adj" fmla="val 30000"/>
            </a:avLst>
          </a:prstGeom>
          <a:solidFill>
            <a:srgbClr val="E2E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结语</a:t>
            </a:r>
            <a:endParaRPr sz="110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0"/>
          <p:cNvSpPr txBox="1"/>
          <p:nvPr/>
        </p:nvSpPr>
        <p:spPr>
          <a:xfrm>
            <a:off x="1709928" y="5669280"/>
            <a:ext cx="99029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实测有效：</a:t>
            </a: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状态感知调度显著降低同步自旋与上下文切换，吞吐最高 +54.9%、首 Token 延迟最多 −42%，x86 上同样有效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37"/>
          <p:cNvSpPr>
            <a:spLocks noGrp="1"/>
          </p:cNvSpPr>
          <p:nvPr>
            <p:ph type="body" sz="quarter" idx="14"/>
          </p:nvPr>
        </p:nvSpPr>
        <p:spPr>
          <a:xfrm>
            <a:off x="5099050" y="4641215"/>
            <a:ext cx="3866515" cy="290195"/>
          </a:xfrm>
        </p:spPr>
        <p:txBody>
          <a:bodyPr/>
          <a:lstStyle/>
          <a:p>
            <a:r>
              <a:rPr lang="zh-CN" altLang="en-US"/>
              <a:t>锐</a:t>
            </a:r>
            <a:r>
              <a:rPr lang="en-US" altLang="zh-CN"/>
              <a:t>s</a:t>
            </a:r>
            <a:r>
              <a:rPr lang="zh-CN" altLang="en-US"/>
              <a:t>刻五代</a:t>
            </a:r>
            <a:endParaRPr lang="zh-CN" altLang="en-US"/>
          </a:p>
        </p:txBody>
      </p:sp>
      <p:sp>
        <p:nvSpPr>
          <p:cNvPr id="3" name="文本占位符 39"/>
          <p:cNvSpPr>
            <a:spLocks noGrp="1"/>
          </p:cNvSpPr>
          <p:nvPr>
            <p:ph type="body" sz="quarter" idx="20"/>
          </p:nvPr>
        </p:nvSpPr>
        <p:spPr>
          <a:xfrm>
            <a:off x="5099050" y="5077460"/>
            <a:ext cx="3866515" cy="290195"/>
          </a:xfrm>
        </p:spPr>
        <p:txBody>
          <a:bodyPr/>
          <a:lstStyle/>
          <a:p>
            <a:r>
              <a:rPr lang="en-US" altLang="zh-CN">
                <a:sym typeface="+mn-ea"/>
              </a:rPr>
              <a:t>2026</a:t>
            </a:r>
            <a:r>
              <a:rPr lang="zh-CN" altLang="en-US">
                <a:sym typeface="+mn-ea"/>
              </a:rPr>
              <a:t>年</a:t>
            </a:r>
            <a:r>
              <a:rPr lang="en-US" altLang="zh-CN">
                <a:sym typeface="+mn-ea"/>
              </a:rPr>
              <a:t>10</a:t>
            </a:r>
            <a:r>
              <a:rPr lang="zh-CN" altLang="en-US">
                <a:sym typeface="+mn-ea"/>
              </a:rPr>
              <a:t>月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日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文本占位符 40"/>
          <p:cNvSpPr>
            <a:spLocks noGrp="1"/>
          </p:cNvSpPr>
          <p:nvPr>
            <p:ph type="body" sz="quarter" idx="22"/>
          </p:nvPr>
        </p:nvSpPr>
        <p:spPr>
          <a:xfrm>
            <a:off x="3937218" y="4640664"/>
            <a:ext cx="1161805" cy="29036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文本占位符 41"/>
          <p:cNvSpPr>
            <a:spLocks noGrp="1"/>
          </p:cNvSpPr>
          <p:nvPr>
            <p:ph type="body" sz="quarter" idx="25"/>
          </p:nvPr>
        </p:nvSpPr>
        <p:spPr>
          <a:xfrm>
            <a:off x="3937218" y="5077480"/>
            <a:ext cx="1161805" cy="29037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文本占位符 50"/>
          <p:cNvSpPr>
            <a:spLocks noGrp="1"/>
          </p:cNvSpPr>
          <p:nvPr/>
        </p:nvSpPr>
        <p:spPr>
          <a:xfrm>
            <a:off x="3937218" y="4640664"/>
            <a:ext cx="1161805" cy="2903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参赛团队：</a:t>
            </a:r>
            <a:endParaRPr lang="zh-CN" altLang="en-US"/>
          </a:p>
        </p:txBody>
      </p:sp>
      <p:sp>
        <p:nvSpPr>
          <p:cNvPr id="7" name="文本占位符 53"/>
          <p:cNvSpPr>
            <a:spLocks noGrp="1"/>
          </p:cNvSpPr>
          <p:nvPr/>
        </p:nvSpPr>
        <p:spPr>
          <a:xfrm>
            <a:off x="3937218" y="5077480"/>
            <a:ext cx="1161805" cy="29037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完成日期：</a:t>
            </a:r>
            <a:endParaRPr lang="zh-CN" altLang="en-US"/>
          </a:p>
        </p:txBody>
      </p:sp>
      <p:sp>
        <p:nvSpPr>
          <p:cNvPr id="8" name="标题 43"/>
          <p:cNvSpPr>
            <a:spLocks noGrp="1"/>
          </p:cNvSpPr>
          <p:nvPr/>
        </p:nvSpPr>
        <p:spPr>
          <a:xfrm>
            <a:off x="1284605" y="1988820"/>
            <a:ext cx="9876790" cy="17589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bg1"/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zh-CN" sz="4000">
                <a:sym typeface="+mn-ea"/>
              </a:rPr>
              <a:t>INFERSCHED：</a:t>
            </a:r>
            <a:r>
              <a:rPr lang="zh-CN" altLang="en-US" sz="4000">
                <a:sym typeface="+mn-ea"/>
              </a:rPr>
              <a:t>基于 </a:t>
            </a:r>
            <a:r>
              <a:rPr lang="en-US" altLang="zh-CN" sz="4000">
                <a:sym typeface="+mn-ea"/>
              </a:rPr>
              <a:t>sched_ext </a:t>
            </a:r>
            <a:r>
              <a:rPr lang="zh-CN" altLang="en-US" sz="4000">
                <a:sym typeface="+mn-ea"/>
              </a:rPr>
              <a:t>的大模型推理同相位内核调度框架</a:t>
            </a:r>
            <a:br>
              <a:rPr lang="zh-CN" altLang="en-US" sz="4000"/>
            </a:br>
            <a:r>
              <a:rPr lang="zh-CN" altLang="en-US" sz="2000"/>
              <a:t>赛题：系统创新-面向 </a:t>
            </a:r>
            <a:r>
              <a:rPr lang="en-US" altLang="zh-CN" sz="2000"/>
              <a:t>RISC-V Vector </a:t>
            </a:r>
            <a:r>
              <a:rPr lang="zh-CN" altLang="en-US" sz="2000"/>
              <a:t>扩展的大语言模型推理并发调度优化</a:t>
            </a:r>
            <a:endParaRPr lang="zh-CN" altLang="en-US" sz="2000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eck_hea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69" cy="5692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0143" y="603503"/>
            <a:ext cx="14630363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8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附录：</a:t>
            </a:r>
            <a:r>
              <a:rPr sz="28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28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编译</a:t>
            </a:r>
            <a:r>
              <a:rPr lang="zh-CN" altLang="en-US" sz="28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视频演示</a:t>
            </a:r>
            <a:endParaRPr lang="zh-CN" altLang="en-US" sz="280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决赛演示视频_压缩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65530" y="1033780"/>
            <a:ext cx="10060305" cy="57105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eck_hea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69" cy="5692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0143" y="603503"/>
            <a:ext cx="14630363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8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r>
              <a:rPr sz="28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28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8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机制消融：搬运、自旋与相位</a:t>
            </a:r>
            <a:endParaRPr sz="280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759" y="1248156"/>
            <a:ext cx="5681457" cy="3401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6174" y="1412748"/>
            <a:ext cx="1231388" cy="43205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 A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75099" y="1412748"/>
            <a:ext cx="3852662" cy="4320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RVV restore-elision</a:t>
            </a:r>
            <a:endParaRPr sz="150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7678" y="1933955"/>
            <a:ext cx="543761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 server，CFS，c=4，300 s 窗口，各 3 轮；不加载 sched_ext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owner 有效时省略 v0–v31 恢复，仍保留 eager save 与向量 CSR 恢复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87678" y="2619756"/>
            <a:ext cx="5437618" cy="19613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3D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558" y="2715768"/>
            <a:ext cx="5071859" cy="205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A5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单实例 CFS 消融；TPS 为均值 ± SD</a:t>
            </a:r>
            <a:endParaRPr sz="1050" b="0">
              <a:solidFill>
                <a:srgbClr val="4A5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33982" y="2962656"/>
          <a:ext cx="5145009" cy="1234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603"/>
                <a:gridCol w="1234802"/>
                <a:gridCol w="1337702"/>
                <a:gridCol w="1131902"/>
              </a:tblGrid>
              <a:tr h="246887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CFS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restore-elision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变化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</a:tr>
              <a:tr h="246887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E2A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TPS</a:t>
                      </a:r>
                      <a:endParaRPr sz="950" b="1">
                        <a:solidFill>
                          <a:srgbClr val="0E2A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5.671 ± 0.092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5.673 ± 0.070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+0.041%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</a:tr>
              <a:tr h="246887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E2A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实际 save+restore</a:t>
                      </a:r>
                      <a:endParaRPr sz="950" b="1">
                        <a:solidFill>
                          <a:srgbClr val="0E2A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124,660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69,758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−44.041%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</a:tr>
              <a:tr h="246887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E2A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省略完整 restore</a:t>
                      </a:r>
                      <a:endParaRPr sz="950" b="1">
                        <a:solidFill>
                          <a:srgbClr val="0E2A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93.637%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恢复省略率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</a:tr>
              <a:tr h="246891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E2A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RVV 数据搬运</a:t>
                      </a:r>
                      <a:endParaRPr sz="950" b="1">
                        <a:solidFill>
                          <a:srgbClr val="0E2A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基线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减少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−48.354%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33982" y="4251960"/>
            <a:ext cx="514501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4A5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save + restore 为轮均值；完整恢复省略率不等于实际搬运计数降幅。</a:t>
            </a:r>
            <a:endParaRPr sz="800" b="0">
              <a:solidFill>
                <a:srgbClr val="4A5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65759" y="4855464"/>
            <a:ext cx="5681457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5214" y="4937759"/>
            <a:ext cx="1584956" cy="35661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的解释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85214" y="5431536"/>
            <a:ext cx="5242546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2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大量省略恢复与数据搬运后，吞吐几乎不变；不支持状态搬运主瓶颈假设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81328" y="1248156"/>
            <a:ext cx="5681457" cy="3401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61743" y="1412748"/>
            <a:ext cx="1231388" cy="43205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 B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90668" y="1412748"/>
            <a:ext cx="3852662" cy="4320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spin CPU 时间归因</a:t>
            </a:r>
            <a:endParaRPr sz="150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03248" y="1933955"/>
            <a:ext cx="543761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 server，c=8；同负载诊断样本，perf 符号与反汇编定位 bounded-spin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 CFS、CFS + affinity 与 infersched-nohint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303248" y="2619756"/>
            <a:ext cx="5437618" cy="19613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3D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6127" y="2715768"/>
            <a:ext cx="5071859" cy="205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A5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c=8 归因诊断：同负载单轮样本</a:t>
            </a:r>
            <a:endParaRPr sz="1050" b="0">
              <a:solidFill>
                <a:srgbClr val="4A5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449551" y="2962656"/>
          <a:ext cx="5145009" cy="1234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603"/>
                <a:gridCol w="1234802"/>
                <a:gridCol w="1337702"/>
                <a:gridCol w="1131902"/>
              </a:tblGrid>
              <a:tr h="308609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配置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TPS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spin CPU 时间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矩阵采样数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2454D9"/>
                    </a:solidFill>
                  </a:tcPr>
                </a:tc>
              </a:tr>
              <a:tr h="308609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E2A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CFS</a:t>
                      </a:r>
                      <a:endParaRPr sz="950" b="1">
                        <a:solidFill>
                          <a:srgbClr val="0E2A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2.1131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311.14 s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142,838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</a:tr>
              <a:tr h="308609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E2A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CFS + affinity</a:t>
                      </a:r>
                      <a:endParaRPr sz="950" b="1">
                        <a:solidFill>
                          <a:srgbClr val="0E2A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2.4177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119.07 s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144,339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EEF4FD"/>
                    </a:solidFill>
                  </a:tcPr>
                </a:tc>
              </a:tr>
              <a:tr h="30861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E2A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infersched-nohint</a:t>
                      </a:r>
                      <a:endParaRPr sz="950" b="1">
                        <a:solidFill>
                          <a:srgbClr val="0E2A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2.5194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86.03 s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3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140,976</a:t>
                      </a:r>
                      <a:endParaRPr sz="950" b="0">
                        <a:solidFill>
                          <a:srgbClr val="1623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449551" y="4251960"/>
            <a:ext cx="514501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4A5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infersched-nohint 相对 CFS：spin 时间 −72.35%，矩阵内核采样约 −1.30%。</a:t>
            </a:r>
            <a:endParaRPr sz="800" b="0">
              <a:solidFill>
                <a:srgbClr val="4A5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181328" y="4855464"/>
            <a:ext cx="5681457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783" y="4937759"/>
            <a:ext cx="1584956" cy="35661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的解释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00783" y="5431536"/>
            <a:ext cx="5242546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2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自旋 CPU 时间明显下降，矩阵内核采样基本不变，支持协同效率改善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65759" y="5918454"/>
            <a:ext cx="11472643" cy="685800"/>
          </a:xfrm>
          <a:prstGeom prst="roundRect">
            <a:avLst>
              <a:gd name="adj" fmla="val 10000"/>
            </a:avLst>
          </a:prstGeom>
          <a:solidFill>
            <a:srgbClr val="F1F5FE"/>
          </a:solidFill>
          <a:ln w="12700">
            <a:solidFill>
              <a:srgbClr val="9FB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85214" y="6035040"/>
            <a:ext cx="1804411" cy="4251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证据关系总结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584697" y="6021324"/>
            <a:ext cx="9083017" cy="4251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E2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两个实验分别统计，不混合口径；与屏障入口直接测量互证，而非仅凭切换次数归因</a:t>
            </a:r>
            <a:endParaRPr sz="1300" b="1">
              <a:solidFill>
                <a:srgbClr val="0E2A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eck_hea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69" cy="5692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0143" y="603503"/>
            <a:ext cx="14630363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28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附录：</a:t>
            </a:r>
            <a:r>
              <a:rPr sz="28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作品原创性情况说明</a:t>
            </a:r>
            <a:endParaRPr sz="280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759" y="1234439"/>
            <a:ext cx="4754868" cy="456057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1102" y="1309878"/>
            <a:ext cx="4584180" cy="452628"/>
          </a:xfrm>
          <a:prstGeom prst="roundRect">
            <a:avLst>
              <a:gd name="adj" fmla="val 22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上游基础与复用边界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218162" y="1234439"/>
            <a:ext cx="6608047" cy="456057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4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03506" y="1309878"/>
            <a:ext cx="6437359" cy="452628"/>
          </a:xfrm>
          <a:prstGeom prst="roundRect">
            <a:avLst>
              <a:gd name="adj" fmla="val 22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本项目自主实现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87678" y="1920240"/>
            <a:ext cx="4511028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9598" y="1988820"/>
            <a:ext cx="1828795" cy="548640"/>
          </a:xfrm>
          <a:prstGeom prst="roundRect">
            <a:avLst>
              <a:gd name="adj" fmla="val 30000"/>
            </a:avLst>
          </a:prstGeom>
          <a:solidFill>
            <a:srgbClr val="E2E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sched-ext/scx-</a:t>
            </a:r>
            <a:endParaRPr sz="110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sz="11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kernel-releases</a:t>
            </a:r>
            <a:endParaRPr sz="110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35929" y="1961388"/>
            <a:ext cx="234085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v6.6.4-scx2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87678" y="2702052"/>
            <a:ext cx="4511028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9598" y="2770632"/>
            <a:ext cx="1828795" cy="548640"/>
          </a:xfrm>
          <a:prstGeom prst="roundRect">
            <a:avLst>
              <a:gd name="adj" fmla="val 30000"/>
            </a:avLst>
          </a:prstGeom>
          <a:solidFill>
            <a:srgbClr val="E2E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K1 厂商 Linux 6.6</a:t>
            </a:r>
            <a:endParaRPr sz="110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35929" y="2743200"/>
            <a:ext cx="234085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适配 sched_ext、BTF、cgroup 与驱动构建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87678" y="3483864"/>
            <a:ext cx="4511028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9598" y="3552444"/>
            <a:ext cx="1828795" cy="548640"/>
          </a:xfrm>
          <a:prstGeom prst="roundRect">
            <a:avLst>
              <a:gd name="adj" fmla="val 30000"/>
            </a:avLst>
          </a:prstGeom>
          <a:solidFill>
            <a:srgbClr val="E2E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llama.cpp 基线</a:t>
            </a:r>
            <a:endParaRPr sz="110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535929" y="3525012"/>
            <a:ext cx="234085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678d43d7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87678" y="4265676"/>
            <a:ext cx="4511028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9598" y="4334256"/>
            <a:ext cx="1828795" cy="548640"/>
          </a:xfrm>
          <a:prstGeom prst="roundRect">
            <a:avLst>
              <a:gd name="adj" fmla="val 30000"/>
            </a:avLst>
          </a:prstGeom>
          <a:solidFill>
            <a:srgbClr val="E2E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libbpf / bpftool /</a:t>
            </a:r>
            <a:endParaRPr sz="110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sz="11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libelf</a:t>
            </a:r>
            <a:endParaRPr sz="110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535929" y="4306824"/>
            <a:ext cx="234085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加载、类型生成与观测基础设施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87678" y="5047488"/>
            <a:ext cx="4511028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09598" y="5116068"/>
            <a:ext cx="1828795" cy="548640"/>
          </a:xfrm>
          <a:prstGeom prst="roundRect">
            <a:avLst>
              <a:gd name="adj" fmla="val 30000"/>
            </a:avLst>
          </a:prstGeom>
          <a:solidFill>
            <a:srgbClr val="E2E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vmlinux.h</a:t>
            </a:r>
            <a:endParaRPr sz="110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535929" y="5088636"/>
            <a:ext cx="234085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由运行内核 BTF 自动生成，不计为自主设计代码</a:t>
            </a:r>
            <a:endParaRPr sz="12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340082" y="1920240"/>
            <a:ext cx="6364208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62002" y="1988820"/>
            <a:ext cx="1121661" cy="548640"/>
          </a:xfrm>
          <a:prstGeom prst="roundRect">
            <a:avLst>
              <a:gd name="adj" fmla="val 30000"/>
            </a:avLst>
          </a:prstGeom>
          <a:solidFill>
            <a:srgbClr val="E2E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5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平台适配</a:t>
            </a:r>
            <a:endParaRPr sz="115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81199" y="1961388"/>
            <a:ext cx="4901171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以两个补丁接入 K1 厂商内核，保留板级生态</a:t>
            </a:r>
            <a:endParaRPr sz="12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340082" y="2702052"/>
            <a:ext cx="6364208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62002" y="2770632"/>
            <a:ext cx="1121661" cy="548640"/>
          </a:xfrm>
          <a:prstGeom prst="roundRect">
            <a:avLst>
              <a:gd name="adj" fmla="val 30000"/>
            </a:avLst>
          </a:prstGeom>
          <a:solidFill>
            <a:srgbClr val="E2E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5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用户态接口</a:t>
            </a:r>
            <a:endParaRPr sz="115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681199" y="2743200"/>
            <a:ext cx="4901171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 TID / TGID / ith，发布 Prefill / Decode / Mixed / Idle</a:t>
            </a:r>
            <a:endParaRPr sz="12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340082" y="3483864"/>
            <a:ext cx="6364208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462002" y="3552444"/>
            <a:ext cx="1121661" cy="548640"/>
          </a:xfrm>
          <a:prstGeom prst="roundRect">
            <a:avLst>
              <a:gd name="adj" fmla="val 30000"/>
            </a:avLst>
          </a:prstGeom>
          <a:solidFill>
            <a:srgbClr val="E2E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5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调度机制</a:t>
            </a:r>
            <a:endParaRPr sz="115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681199" y="3525012"/>
            <a:ext cx="4901171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RVV worker 识别、组内稳定核映射、分组 VDSQ、阶段仲裁与活性保护</a:t>
            </a:r>
            <a:endParaRPr sz="12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340082" y="4265676"/>
            <a:ext cx="6364208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62002" y="4334256"/>
            <a:ext cx="1121661" cy="548640"/>
          </a:xfrm>
          <a:prstGeom prst="roundRect">
            <a:avLst>
              <a:gd name="adj" fmla="val 30000"/>
            </a:avLst>
          </a:prstGeom>
          <a:solidFill>
            <a:srgbClr val="E2E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5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测量评测</a:t>
            </a:r>
            <a:endParaRPr sz="115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681199" y="4306824"/>
            <a:ext cx="4901171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屏障入口探针、RVV / futex / 调度观测、统一多实例 benchmark</a:t>
            </a:r>
            <a:endParaRPr sz="12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340082" y="5047488"/>
            <a:ext cx="6364208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462002" y="5116068"/>
            <a:ext cx="1121661" cy="548640"/>
          </a:xfrm>
          <a:prstGeom prst="roundRect">
            <a:avLst>
              <a:gd name="adj" fmla="val 30000"/>
            </a:avLst>
          </a:prstGeom>
          <a:solidFill>
            <a:srgbClr val="E2E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5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补充路线</a:t>
            </a:r>
            <a:endParaRPr sz="1150" b="1">
              <a:solidFill>
                <a:srgbClr val="1E4B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681199" y="5088636"/>
            <a:ext cx="4901171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dynamic 图边界授权、x86 ABI 识别与 SMT 拓扑适配</a:t>
            </a:r>
            <a:endParaRPr sz="125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365759" y="5829300"/>
            <a:ext cx="11460451" cy="761238"/>
          </a:xfrm>
          <a:prstGeom prst="roundRect">
            <a:avLst>
              <a:gd name="adj" fmla="val 10000"/>
            </a:avLst>
          </a:prstGeom>
          <a:solidFill>
            <a:srgbClr val="F1F5FE"/>
          </a:solidFill>
          <a:ln w="12700">
            <a:solidFill>
              <a:srgbClr val="9FB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87678" y="5959602"/>
            <a:ext cx="1694683" cy="4800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51E1"/>
              </a:gs>
              <a:gs pos="100000">
                <a:srgbClr val="6A45F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许可说明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438393" y="5911596"/>
            <a:ext cx="9265896" cy="651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2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3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内核及调度器 GPL-2.0；llama.cpp 修改 MIT</a:t>
            </a:r>
            <a:endParaRPr sz="13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00" b="1">
                <a:solidFill>
                  <a:srgbClr val="1E4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300" b="0">
                <a:solidFill>
                  <a:srgbClr val="16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libbpf 为 LGPL-2.1 OR BSD-2-Clause，具体以文件声明与第三方清单为准</a:t>
            </a:r>
            <a:endParaRPr sz="1300" b="0">
              <a:solidFill>
                <a:srgbClr val="16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37"/>
          <p:cNvSpPr>
            <a:spLocks noGrp="1"/>
          </p:cNvSpPr>
          <p:nvPr>
            <p:ph type="body" sz="quarter" idx="14"/>
          </p:nvPr>
        </p:nvSpPr>
        <p:spPr>
          <a:xfrm>
            <a:off x="5099050" y="4641215"/>
            <a:ext cx="3866515" cy="290195"/>
          </a:xfrm>
        </p:spPr>
        <p:txBody>
          <a:bodyPr/>
          <a:lstStyle/>
          <a:p>
            <a:r>
              <a:rPr lang="zh-CN" altLang="en-US"/>
              <a:t>锐</a:t>
            </a:r>
            <a:r>
              <a:rPr lang="en-US" altLang="zh-CN"/>
              <a:t>s</a:t>
            </a:r>
            <a:r>
              <a:rPr lang="zh-CN" altLang="en-US"/>
              <a:t>刻五代</a:t>
            </a:r>
            <a:endParaRPr lang="zh-CN" altLang="en-US"/>
          </a:p>
        </p:txBody>
      </p:sp>
      <p:sp>
        <p:nvSpPr>
          <p:cNvPr id="3" name="文本占位符 39"/>
          <p:cNvSpPr>
            <a:spLocks noGrp="1"/>
          </p:cNvSpPr>
          <p:nvPr>
            <p:ph type="body" sz="quarter" idx="20"/>
          </p:nvPr>
        </p:nvSpPr>
        <p:spPr>
          <a:xfrm>
            <a:off x="5099050" y="5077460"/>
            <a:ext cx="3866515" cy="290195"/>
          </a:xfrm>
        </p:spPr>
        <p:txBody>
          <a:bodyPr/>
          <a:lstStyle/>
          <a:p>
            <a:r>
              <a:rPr lang="en-US" altLang="zh-CN">
                <a:sym typeface="+mn-ea"/>
              </a:rPr>
              <a:t>2026</a:t>
            </a:r>
            <a:r>
              <a:rPr lang="zh-CN" altLang="en-US">
                <a:sym typeface="+mn-ea"/>
              </a:rPr>
              <a:t>年</a:t>
            </a:r>
            <a:r>
              <a:rPr lang="en-US" altLang="zh-CN">
                <a:sym typeface="+mn-ea"/>
              </a:rPr>
              <a:t>10</a:t>
            </a:r>
            <a:r>
              <a:rPr lang="zh-CN" altLang="en-US">
                <a:sym typeface="+mn-ea"/>
              </a:rPr>
              <a:t>月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日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文本占位符 40"/>
          <p:cNvSpPr>
            <a:spLocks noGrp="1"/>
          </p:cNvSpPr>
          <p:nvPr>
            <p:ph type="body" sz="quarter" idx="22"/>
          </p:nvPr>
        </p:nvSpPr>
        <p:spPr>
          <a:xfrm>
            <a:off x="3937218" y="4640664"/>
            <a:ext cx="1161805" cy="29036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文本占位符 41"/>
          <p:cNvSpPr>
            <a:spLocks noGrp="1"/>
          </p:cNvSpPr>
          <p:nvPr>
            <p:ph type="body" sz="quarter" idx="25"/>
          </p:nvPr>
        </p:nvSpPr>
        <p:spPr>
          <a:xfrm>
            <a:off x="3937218" y="5077480"/>
            <a:ext cx="1161805" cy="29037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文本占位符 50"/>
          <p:cNvSpPr>
            <a:spLocks noGrp="1"/>
          </p:cNvSpPr>
          <p:nvPr/>
        </p:nvSpPr>
        <p:spPr>
          <a:xfrm>
            <a:off x="3937218" y="4640664"/>
            <a:ext cx="1161805" cy="2903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参赛团队：</a:t>
            </a:r>
            <a:endParaRPr lang="zh-CN" altLang="en-US"/>
          </a:p>
        </p:txBody>
      </p:sp>
      <p:sp>
        <p:nvSpPr>
          <p:cNvPr id="7" name="文本占位符 53"/>
          <p:cNvSpPr>
            <a:spLocks noGrp="1"/>
          </p:cNvSpPr>
          <p:nvPr/>
        </p:nvSpPr>
        <p:spPr>
          <a:xfrm>
            <a:off x="3937218" y="5077480"/>
            <a:ext cx="1161805" cy="29037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完成日期：</a:t>
            </a:r>
            <a:endParaRPr lang="zh-CN" altLang="en-US"/>
          </a:p>
        </p:txBody>
      </p:sp>
      <p:sp>
        <p:nvSpPr>
          <p:cNvPr id="8" name="标题 43"/>
          <p:cNvSpPr>
            <a:spLocks noGrp="1"/>
          </p:cNvSpPr>
          <p:nvPr/>
        </p:nvSpPr>
        <p:spPr>
          <a:xfrm>
            <a:off x="1284605" y="1988820"/>
            <a:ext cx="9876790" cy="17589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bg1"/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zh-CN" sz="4000">
                <a:sym typeface="+mn-ea"/>
              </a:rPr>
              <a:t>INFERSCHED：</a:t>
            </a:r>
            <a:r>
              <a:rPr lang="zh-CN" altLang="en-US" sz="4000">
                <a:sym typeface="+mn-ea"/>
              </a:rPr>
              <a:t>基于 </a:t>
            </a:r>
            <a:r>
              <a:rPr lang="en-US" altLang="zh-CN" sz="4000">
                <a:sym typeface="+mn-ea"/>
              </a:rPr>
              <a:t>sched_ext </a:t>
            </a:r>
            <a:r>
              <a:rPr lang="zh-CN" altLang="en-US" sz="4000">
                <a:sym typeface="+mn-ea"/>
              </a:rPr>
              <a:t>的大模型推理同相位内核调度框架</a:t>
            </a:r>
            <a:br>
              <a:rPr lang="zh-CN" altLang="en-US" sz="4000"/>
            </a:br>
            <a:r>
              <a:rPr lang="zh-CN" altLang="en-US" sz="2000"/>
              <a:t>赛题：系统创新-面向 </a:t>
            </a:r>
            <a:r>
              <a:rPr lang="en-US" altLang="zh-CN" sz="2000"/>
              <a:t>RISC-V Vector </a:t>
            </a:r>
            <a:r>
              <a:rPr lang="zh-CN" altLang="en-US" sz="2000"/>
              <a:t>扩展的大语言模型推理并发调度优化</a:t>
            </a:r>
            <a:endParaRPr lang="zh-CN" altLang="en-US" sz="20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  <p:tag name="KSO_WM_DIAGRAM_VIRTUALLY_FRAME" val="{&quot;height&quot;:317.8546456692913,&quot;left&quot;:400.95,&quot;top&quot;:87.53803149606298,&quot;width&quot;:402.75}"/>
</p:tagLst>
</file>

<file path=ppt/tags/tag36.xml><?xml version="1.0" encoding="utf-8"?>
<p:tagLst xmlns:p="http://schemas.openxmlformats.org/presentationml/2006/main">
  <p:tag name="KSO_WM_BEAUTIFY_FLAG" val=""/>
  <p:tag name="KSO_WM_DIAGRAM_VIRTUALLY_FRAME" val="{&quot;height&quot;:317.8546456692913,&quot;left&quot;:400.95,&quot;top&quot;:87.53803149606298,&quot;width&quot;:402.75}"/>
</p:tagLst>
</file>

<file path=ppt/tags/tag37.xml><?xml version="1.0" encoding="utf-8"?>
<p:tagLst xmlns:p="http://schemas.openxmlformats.org/presentationml/2006/main">
  <p:tag name="KSO_WM_BEAUTIFY_FLAG" val=""/>
  <p:tag name="KSO_WM_DIAGRAM_VIRTUALLY_FRAME" val="{&quot;height&quot;:317.8546456692913,&quot;left&quot;:400.95,&quot;top&quot;:87.53803149606298,&quot;width&quot;:402.75}"/>
</p:tagLst>
</file>

<file path=ppt/tags/tag38.xml><?xml version="1.0" encoding="utf-8"?>
<p:tagLst xmlns:p="http://schemas.openxmlformats.org/presentationml/2006/main">
  <p:tag name="KSO_WM_BEAUTIFY_FLAG" val=""/>
  <p:tag name="KSO_WM_DIAGRAM_VIRTUALLY_FRAME" val="{&quot;height&quot;:317.8546456692913,&quot;left&quot;:400.95,&quot;top&quot;:87.53803149606298,&quot;width&quot;:402.75}"/>
</p:tagLst>
</file>

<file path=ppt/tags/tag39.xml><?xml version="1.0" encoding="utf-8"?>
<p:tagLst xmlns:p="http://schemas.openxmlformats.org/presentationml/2006/main">
  <p:tag name="KSO_WM_BEAUTIFY_FLAG" val=""/>
  <p:tag name="KSO_WM_DIAGRAM_VIRTUALLY_FRAME" val="{&quot;height&quot;:317.8546456692913,&quot;left&quot;:400.95,&quot;top&quot;:87.53803149606298,&quot;width&quot;:402.75}"/>
</p:tagLst>
</file>

<file path=ppt/tags/tag40.xml><?xml version="1.0" encoding="utf-8"?>
<p:tagLst xmlns:p="http://schemas.openxmlformats.org/presentationml/2006/main">
  <p:tag name="KSO_WM_BEAUTIFY_FLAG" val=""/>
  <p:tag name="KSO_WM_DIAGRAM_VIRTUALLY_FRAME" val="{&quot;height&quot;:317.8546456692913,&quot;left&quot;:400.95,&quot;top&quot;:87.53803149606298,&quot;width&quot;:402.75}"/>
</p:tagLst>
</file>

<file path=ppt/tags/tag41.xml><?xml version="1.0" encoding="utf-8"?>
<p:tagLst xmlns:p="http://schemas.openxmlformats.org/presentationml/2006/main">
  <p:tag name="KSO_WM_BEAUTIFY_FLAG" val=""/>
  <p:tag name="KSO_WM_DIAGRAM_VIRTUALLY_FRAME" val="{&quot;height&quot;:317.8546456692913,&quot;left&quot;:400.95,&quot;top&quot;:87.53803149606298,&quot;width&quot;:402.75}"/>
</p:tagLst>
</file>

<file path=ppt/tags/tag42.xml><?xml version="1.0" encoding="utf-8"?>
<p:tagLst xmlns:p="http://schemas.openxmlformats.org/presentationml/2006/main">
  <p:tag name="KSO_WM_BEAUTIFY_FLAG" val=""/>
  <p:tag name="KSO_WM_DIAGRAM_VIRTUALLY_FRAME" val="{&quot;height&quot;:317.8546456692913,&quot;left&quot;:400.95,&quot;top&quot;:87.53803149606298,&quot;width&quot;:402.75}"/>
</p:tagLst>
</file>

<file path=ppt/tags/tag43.xml><?xml version="1.0" encoding="utf-8"?>
<p:tagLst xmlns:p="http://schemas.openxmlformats.org/presentationml/2006/main">
  <p:tag name="KSO_WM_BEAUTIFY_FLAG" val=""/>
  <p:tag name="KSO_WM_DIAGRAM_VIRTUALLY_FRAME" val="{&quot;height&quot;:317.8546456692913,&quot;left&quot;:400.95,&quot;top&quot;:87.53803149606298,&quot;width&quot;:402.75}"/>
</p:tagLst>
</file>

<file path=ppt/tags/tag44.xml><?xml version="1.0" encoding="utf-8"?>
<p:tagLst xmlns:p="http://schemas.openxmlformats.org/presentationml/2006/main">
  <p:tag name="KSO_WM_BEAUTIFY_FLAG" val=""/>
  <p:tag name="KSO_WM_DIAGRAM_VIRTUALLY_FRAME" val="{&quot;height&quot;:317.8546456692913,&quot;left&quot;:400.95,&quot;top&quot;:87.53803149606298,&quot;width&quot;:402.75}"/>
</p:tagLst>
</file>

<file path=ppt/tags/tag45.xml><?xml version="1.0" encoding="utf-8"?>
<p:tagLst xmlns:p="http://schemas.openxmlformats.org/presentationml/2006/main">
  <p:tag name="KSO_WM_BEAUTIFY_FLAG" val=""/>
  <p:tag name="KSO_WM_DIAGRAM_VIRTUALLY_FRAME" val="{&quot;height&quot;:317.8546456692913,&quot;left&quot;:400.95,&quot;top&quot;:87.53803149606298,&quot;width&quot;:402.75}"/>
</p:tagLst>
</file>

<file path=ppt/tags/tag46.xml><?xml version="1.0" encoding="utf-8"?>
<p:tagLst xmlns:p="http://schemas.openxmlformats.org/presentationml/2006/main">
  <p:tag name="KSO_WM_BEAUTIFY_FLAG" val=""/>
  <p:tag name="KSO_WM_DIAGRAM_VIRTUALLY_FRAME" val="{&quot;height&quot;:317.8546456692913,&quot;left&quot;:400.95,&quot;top&quot;:87.53803149606298,&quot;width&quot;:402.75}"/>
</p:tagLst>
</file>

<file path=ppt/tags/tag47.xml><?xml version="1.0" encoding="utf-8"?>
<p:tagLst xmlns:p="http://schemas.openxmlformats.org/presentationml/2006/main">
  <p:tag name="KSO_WM_BEAUTIFY_FLAG" val=""/>
  <p:tag name="KSO_WM_DIAGRAM_VIRTUALLY_FRAME" val="{&quot;height&quot;:317.8546456692913,&quot;left&quot;:400.95,&quot;top&quot;:87.53803149606298,&quot;width&quot;:402.75}"/>
</p:tagLst>
</file>

<file path=ppt/tags/tag48.xml><?xml version="1.0" encoding="utf-8"?>
<p:tagLst xmlns:p="http://schemas.openxmlformats.org/presentationml/2006/main">
  <p:tag name="KSO_WM_BEAUTIFY_FLAG" val=""/>
  <p:tag name="KSO_WM_DIAGRAM_VIRTUALLY_FRAME" val="{&quot;height&quot;:317.8546456692913,&quot;left&quot;:400.95,&quot;top&quot;:87.53803149606298,&quot;width&quot;:402.75}"/>
</p:tagLst>
</file>

<file path=ppt/tags/tag49.xml><?xml version="1.0" encoding="utf-8"?>
<p:tagLst xmlns:p="http://schemas.openxmlformats.org/presentationml/2006/main">
  <p:tag name="KSO_WM_BEAUTIFY_FLAG" val=""/>
  <p:tag name="KSO_WM_DIAGRAM_VIRTUALLY_FRAME" val="{&quot;height&quot;:317.8546456692913,&quot;left&quot;:400.95,&quot;top&quot;:87.53803149606298,&quot;width&quot;:402.75}"/>
</p:tagLst>
</file>

<file path=ppt/tags/tag50.xml><?xml version="1.0" encoding="utf-8"?>
<p:tagLst xmlns:p="http://schemas.openxmlformats.org/presentationml/2006/main">
  <p:tag name="KSO_WM_BEAUTIFY_FLAG" val=""/>
  <p:tag name="KSO_WM_DIAGRAM_VIRTUALLY_FRAME" val="{&quot;height&quot;:317.8546456692913,&quot;left&quot;:400.95,&quot;top&quot;:87.53803149606298,&quot;width&quot;:402.75}"/>
</p:tagLst>
</file>

<file path=ppt/tags/tag51.xml><?xml version="1.0" encoding="utf-8"?>
<p:tagLst xmlns:p="http://schemas.openxmlformats.org/presentationml/2006/main">
  <p:tag name="KSO_WM_DIAGRAM_VIRTUALLY_FRAME" val="{&quot;height&quot;:375.30000000000007,&quot;left&quot;:633.5983464566929,&quot;top&quot;:102.06,&quot;width&quot;:304.3192125984253}"/>
</p:tagLst>
</file>

<file path=ppt/tags/tag52.xml><?xml version="1.0" encoding="utf-8"?>
<p:tagLst xmlns:p="http://schemas.openxmlformats.org/presentationml/2006/main">
  <p:tag name="KSO_WM_DIAGRAM_VIRTUALLY_FRAME" val="{&quot;height&quot;:375.30000000000007,&quot;left&quot;:633.5983464566929,&quot;top&quot;:102.06,&quot;width&quot;:304.3192125984253}"/>
</p:tagLst>
</file>

<file path=ppt/tags/tag53.xml><?xml version="1.0" encoding="utf-8"?>
<p:tagLst xmlns:p="http://schemas.openxmlformats.org/presentationml/2006/main">
  <p:tag name="KSO_WM_DIAGRAM_VIRTUALLY_FRAME" val="{&quot;height&quot;:375.30000000000007,&quot;left&quot;:633.5983464566929,&quot;top&quot;:102.06,&quot;width&quot;:304.3192125984253}"/>
</p:tagLst>
</file>

<file path=ppt/tags/tag54.xml><?xml version="1.0" encoding="utf-8"?>
<p:tagLst xmlns:p="http://schemas.openxmlformats.org/presentationml/2006/main">
  <p:tag name="KSO_WM_DIAGRAM_VIRTUALLY_FRAME" val="{&quot;height&quot;:375.30000000000007,&quot;left&quot;:633.5983464566929,&quot;top&quot;:102.06,&quot;width&quot;:304.3192125984253}"/>
</p:tagLst>
</file>

<file path=ppt/tags/tag55.xml><?xml version="1.0" encoding="utf-8"?>
<p:tagLst xmlns:p="http://schemas.openxmlformats.org/presentationml/2006/main">
  <p:tag name="KSO_WM_DIAGRAM_VIRTUALLY_FRAME" val="{&quot;height&quot;:375.30000000000007,&quot;left&quot;:633.5983464566929,&quot;top&quot;:102.06,&quot;width&quot;:304.3192125984253}"/>
</p:tagLst>
</file>

<file path=ppt/tags/tag56.xml><?xml version="1.0" encoding="utf-8"?>
<p:tagLst xmlns:p="http://schemas.openxmlformats.org/presentationml/2006/main">
  <p:tag name="KSO_WM_DIAGRAM_VIRTUALLY_FRAME" val="{&quot;height&quot;:375.30000000000007,&quot;left&quot;:633.5983464566929,&quot;top&quot;:102.06,&quot;width&quot;:304.3192125984253}"/>
</p:tagLst>
</file>

<file path=ppt/tags/tag57.xml><?xml version="1.0" encoding="utf-8"?>
<p:tagLst xmlns:p="http://schemas.openxmlformats.org/presentationml/2006/main">
  <p:tag name="KSO_WM_DIAGRAM_VIRTUALLY_FRAME" val="{&quot;height&quot;:375.30000000000007,&quot;left&quot;:633.5983464566929,&quot;top&quot;:102.06,&quot;width&quot;:304.3192125984253}"/>
</p:tagLst>
</file>

<file path=ppt/tags/tag58.xml><?xml version="1.0" encoding="utf-8"?>
<p:tagLst xmlns:p="http://schemas.openxmlformats.org/presentationml/2006/main">
  <p:tag name="KSO_WM_DIAGRAM_VIRTUALLY_FRAME" val="{&quot;height&quot;:375.30000000000007,&quot;left&quot;:633.5983464566929,&quot;top&quot;:102.06,&quot;width&quot;:304.3192125984253}"/>
</p:tagLst>
</file>

<file path=ppt/tags/tag59.xml><?xml version="1.0" encoding="utf-8"?>
<p:tagLst xmlns:p="http://schemas.openxmlformats.org/presentationml/2006/main">
  <p:tag name="KSO_WM_DIAGRAM_VIRTUALLY_FRAME" val="{&quot;height&quot;:375.30000000000007,&quot;left&quot;:633.5983464566929,&quot;top&quot;:102.06,&quot;width&quot;:304.3192125984253}"/>
</p:tagLst>
</file>

<file path=ppt/tags/tag60.xml><?xml version="1.0" encoding="utf-8"?>
<p:tagLst xmlns:p="http://schemas.openxmlformats.org/presentationml/2006/main">
  <p:tag name="TABLE_ENDDRAG_ORIGIN_RECT" val="590*89"/>
  <p:tag name="TABLE_ENDDRAG_RECT" val="26*385*590*89"/>
</p:tagLst>
</file>

<file path=ppt/tags/tag61.xml><?xml version="1.0" encoding="utf-8"?>
<p:tagLst xmlns:p="http://schemas.openxmlformats.org/presentationml/2006/main">
  <p:tag name="KSO_WM_DIAGRAM_VIRTUALLY_FRAME" val="{&quot;height&quot;:86.4,&quot;left&quot;:21.11992125984252,&quot;top&quot;:402.3,&quot;width&quot;:917.757716535433}"/>
</p:tagLst>
</file>

<file path=ppt/tags/tag62.xml><?xml version="1.0" encoding="utf-8"?>
<p:tagLst xmlns:p="http://schemas.openxmlformats.org/presentationml/2006/main">
  <p:tag name="KSO_WM_DIAGRAM_VIRTUALLY_FRAME" val="{&quot;height&quot;:86.4,&quot;left&quot;:21.11992125984252,&quot;top&quot;:402.3,&quot;width&quot;:917.757716535433}"/>
</p:tagLst>
</file>

<file path=ppt/tags/tag63.xml><?xml version="1.0" encoding="utf-8"?>
<p:tagLst xmlns:p="http://schemas.openxmlformats.org/presentationml/2006/main">
  <p:tag name="KSO_WM_DIAGRAM_VIRTUALLY_FRAME" val="{&quot;height&quot;:86.4,&quot;left&quot;:21.11992125984252,&quot;top&quot;:402.3,&quot;width&quot;:917.757716535433}"/>
</p:tagLst>
</file>

<file path=ppt/tags/tag64.xml><?xml version="1.0" encoding="utf-8"?>
<p:tagLst xmlns:p="http://schemas.openxmlformats.org/presentationml/2006/main">
  <p:tag name="KSO_WM_DIAGRAM_VIRTUALLY_FRAME" val="{&quot;height&quot;:86.4,&quot;left&quot;:21.11992125984252,&quot;top&quot;:402.3,&quot;width&quot;:917.757716535433}"/>
</p:tagLst>
</file>

<file path=ppt/tags/tag65.xml><?xml version="1.0" encoding="utf-8"?>
<p:tagLst xmlns:p="http://schemas.openxmlformats.org/presentationml/2006/main">
  <p:tag name="KSO_WM_DIAGRAM_VIRTUALLY_FRAME" val="{&quot;height&quot;:86.4,&quot;left&quot;:21.11992125984252,&quot;top&quot;:402.3,&quot;width&quot;:917.757716535433}"/>
</p:tagLst>
</file>

<file path=ppt/tags/tag66.xml><?xml version="1.0" encoding="utf-8"?>
<p:tagLst xmlns:p="http://schemas.openxmlformats.org/presentationml/2006/main">
  <p:tag name="KSO_WM_DIAGRAM_VIRTUALLY_FRAME" val="{&quot;height&quot;:86.4,&quot;left&quot;:21.11992125984252,&quot;top&quot;:402.3,&quot;width&quot;:917.757716535433}"/>
</p:tagLst>
</file>

<file path=ppt/tags/tag67.xml><?xml version="1.0" encoding="utf-8"?>
<p:tagLst xmlns:p="http://schemas.openxmlformats.org/presentationml/2006/main">
  <p:tag name="KSO_WM_DIAGRAM_VIRTUALLY_FRAME" val="{&quot;height&quot;:86.4,&quot;left&quot;:21.11992125984252,&quot;top&quot;:402.3,&quot;width&quot;:917.757716535433}"/>
</p:tagLst>
</file>

<file path=ppt/tags/tag68.xml><?xml version="1.0" encoding="utf-8"?>
<p:tagLst xmlns:p="http://schemas.openxmlformats.org/presentationml/2006/main">
  <p:tag name="KSO_WM_DIAGRAM_VIRTUALLY_FRAME" val="{&quot;height&quot;:86.4,&quot;left&quot;:21.11992125984252,&quot;top&quot;:402.3,&quot;width&quot;:917.757716535433}"/>
</p:tagLst>
</file>

<file path=ppt/tags/tag69.xml><?xml version="1.0" encoding="utf-8"?>
<p:tagLst xmlns:p="http://schemas.openxmlformats.org/presentationml/2006/main">
  <p:tag name="KSO_WM_DIAGRAM_VIRTUALLY_FRAME" val="{&quot;height&quot;:86.4,&quot;left&quot;:21.11992125984252,&quot;top&quot;:402.3,&quot;width&quot;:917.757716535433}"/>
</p:tagLst>
</file>

<file path=ppt/tags/tag70.xml><?xml version="1.0" encoding="utf-8"?>
<p:tagLst xmlns:p="http://schemas.openxmlformats.org/presentationml/2006/main">
  <p:tag name="KSO_WM_DIAGRAM_VIRTUALLY_FRAME" val="{&quot;height&quot;:86.4,&quot;left&quot;:21.11992125984252,&quot;top&quot;:402.3,&quot;width&quot;:917.757716535433}"/>
</p:tagLst>
</file>

<file path=ppt/tags/tag71.xml><?xml version="1.0" encoding="utf-8"?>
<p:tagLst xmlns:p="http://schemas.openxmlformats.org/presentationml/2006/main">
  <p:tag name="KSO_WM_DIAGRAM_VIRTUALLY_FRAME" val="{&quot;height&quot;:86.4,&quot;left&quot;:21.11992125984252,&quot;top&quot;:402.3,&quot;width&quot;:917.757716535433}"/>
</p:tagLst>
</file>

<file path=ppt/tags/tag72.xml><?xml version="1.0" encoding="utf-8"?>
<p:tagLst xmlns:p="http://schemas.openxmlformats.org/presentationml/2006/main">
  <p:tag name="KSO_WM_DIAGRAM_VIRTUALLY_FRAME" val="{&quot;height&quot;:86.4,&quot;left&quot;:21.11992125984252,&quot;top&quot;:402.3,&quot;width&quot;:917.757716535433}"/>
</p:tagLst>
</file>

<file path=ppt/tags/tag73.xml><?xml version="1.0" encoding="utf-8"?>
<p:tagLst xmlns:p="http://schemas.openxmlformats.org/presentationml/2006/main">
  <p:tag name="KSO_WM_DIAGRAM_VIRTUALLY_FRAME" val="{&quot;height&quot;:86.4,&quot;left&quot;:21.11992125984252,&quot;top&quot;:402.3,&quot;width&quot;:917.757716535433}"/>
</p:tagLst>
</file>

<file path=ppt/tags/tag74.xml><?xml version="1.0" encoding="utf-8"?>
<p:tagLst xmlns:p="http://schemas.openxmlformats.org/presentationml/2006/main">
  <p:tag name="KSO_WM_DIAGRAM_VIRTUALLY_FRAME" val="{&quot;height&quot;:86.4,&quot;left&quot;:21.11992125984252,&quot;top&quot;:402.3,&quot;width&quot;:917.757716535433}"/>
</p:tagLst>
</file>

<file path=ppt/tags/tag75.xml><?xml version="1.0" encoding="utf-8"?>
<p:tagLst xmlns:p="http://schemas.openxmlformats.org/presentationml/2006/main">
  <p:tag name="KSO_WM_DIAGRAM_VIRTUALLY_FRAME" val="{&quot;height&quot;:86.4,&quot;left&quot;:21.11992125984252,&quot;top&quot;:402.3,&quot;width&quot;:917.757716535433}"/>
</p:tagLst>
</file>

<file path=ppt/tags/tag76.xml><?xml version="1.0" encoding="utf-8"?>
<p:tagLst xmlns:p="http://schemas.openxmlformats.org/presentationml/2006/main">
  <p:tag name="KSO_WM_DIAGRAM_VIRTUALLY_FRAME" val="{&quot;height&quot;:86.4,&quot;left&quot;:21.11992125984252,&quot;top&quot;:402.3,&quot;width&quot;:917.757716535433}"/>
</p:tagLst>
</file>

<file path=ppt/tags/tag77.xml><?xml version="1.0" encoding="utf-8"?>
<p:tagLst xmlns:p="http://schemas.openxmlformats.org/presentationml/2006/main">
  <p:tag name="KSO_WM_DIAGRAM_VIRTUALLY_FRAME" val="{&quot;height&quot;:86.4,&quot;left&quot;:21.11992125984252,&quot;top&quot;:402.3,&quot;width&quot;:917.757716535433}"/>
</p:tagLst>
</file>

<file path=ppt/tags/tag78.xml><?xml version="1.0" encoding="utf-8"?>
<p:tagLst xmlns:p="http://schemas.openxmlformats.org/presentationml/2006/main">
  <p:tag name="KSO_WM_DIAGRAM_VIRTUALLY_FRAME" val="{&quot;height&quot;:86.4,&quot;left&quot;:21.11992125984252,&quot;top&quot;:402.3,&quot;width&quot;:917.757716535433}"/>
</p:tagLst>
</file>

<file path=ppt/tags/tag79.xml><?xml version="1.0" encoding="utf-8"?>
<p:tagLst xmlns:p="http://schemas.openxmlformats.org/presentationml/2006/main">
  <p:tag name="KSO_WM_DIAGRAM_VIRTUALLY_FRAME" val="{&quot;height&quot;:86.4,&quot;left&quot;:21.11992125984252,&quot;top&quot;:402.3,&quot;width&quot;:917.757716535433}"/>
</p:tagLst>
</file>

<file path=ppt/tags/tag80.xml><?xml version="1.0" encoding="utf-8"?>
<p:tagLst xmlns:p="http://schemas.openxmlformats.org/presentationml/2006/main">
  <p:tag name="KSO_WM_DIAGRAM_VIRTUALLY_FRAME" val="{&quot;height&quot;:86.4,&quot;left&quot;:21.11992125984252,&quot;top&quot;:402.3,&quot;width&quot;:917.757716535433}"/>
</p:tagLst>
</file>

<file path=ppt/tags/tag81.xml><?xml version="1.0" encoding="utf-8"?>
<p:tagLst xmlns:p="http://schemas.openxmlformats.org/presentationml/2006/main">
  <p:tag name="KSO_WM_DIAGRAM_VIRTUALLY_FRAME" val="{&quot;height&quot;:86.4,&quot;left&quot;:21.11992125984252,&quot;top&quot;:402.3,&quot;width&quot;:917.757716535433}"/>
</p:tagLst>
</file>

<file path=ppt/tags/tag82.xml><?xml version="1.0" encoding="utf-8"?>
<p:tagLst xmlns:p="http://schemas.openxmlformats.org/presentationml/2006/main">
  <p:tag name="KSO_WM_DIAGRAM_VIRTUALLY_FRAME" val="{&quot;height&quot;:86.4,&quot;left&quot;:21.11992125984252,&quot;top&quot;:402.3,&quot;width&quot;:917.757716535433}"/>
</p:tagLst>
</file>

<file path=ppt/tags/tag83.xml><?xml version="1.0" encoding="utf-8"?>
<p:tagLst xmlns:p="http://schemas.openxmlformats.org/presentationml/2006/main">
  <p:tag name="KSO_WM_DIAGRAM_VIRTUALLY_FRAME" val="{&quot;height&quot;:86.4,&quot;left&quot;:21.11992125984252,&quot;top&quot;:402.3,&quot;width&quot;:917.757716535433}"/>
</p:tagLst>
</file>

<file path=ppt/tags/tag84.xml><?xml version="1.0" encoding="utf-8"?>
<p:tagLst xmlns:p="http://schemas.openxmlformats.org/presentationml/2006/main">
  <p:tag name="KSO_WM_DIAGRAM_VIRTUALLY_FRAME" val="{&quot;height&quot;:86.4,&quot;left&quot;:21.11992125984252,&quot;top&quot;:402.3,&quot;width&quot;:917.757716535433}"/>
</p:tagLst>
</file>

<file path=ppt/tags/tag85.xml><?xml version="1.0" encoding="utf-8"?>
<p:tagLst xmlns:p="http://schemas.openxmlformats.org/presentationml/2006/main">
  <p:tag name="KSO_WM_DIAGRAM_VIRTUALLY_FRAME" val="{&quot;height&quot;:86.4,&quot;left&quot;:21.11992125984252,&quot;top&quot;:402.3,&quot;width&quot;:917.757716535433}"/>
</p:tagLst>
</file>

<file path=ppt/tags/tag86.xml><?xml version="1.0" encoding="utf-8"?>
<p:tagLst xmlns:p="http://schemas.openxmlformats.org/presentationml/2006/main">
  <p:tag name="KSO_WM_DIAGRAM_VIRTUALLY_FRAME" val="{&quot;height&quot;:86.4,&quot;left&quot;:21.11992125984252,&quot;top&quot;:402.3,&quot;width&quot;:917.757716535433}"/>
</p:tagLst>
</file>

<file path=ppt/tags/tag87.xml><?xml version="1.0" encoding="utf-8"?>
<p:tagLst xmlns:p="http://schemas.openxmlformats.org/presentationml/2006/main">
  <p:tag name="KSO_WM_DIAGRAM_VIRTUALLY_FRAME" val="{&quot;height&quot;:86.4,&quot;left&quot;:21.11992125984252,&quot;top&quot;:402.3,&quot;width&quot;:917.757716535433}"/>
</p:tagLst>
</file>

<file path=ppt/tags/tag88.xml><?xml version="1.0" encoding="utf-8"?>
<p:tagLst xmlns:p="http://schemas.openxmlformats.org/presentationml/2006/main">
  <p:tag name="KSO_WM_DIAGRAM_VIRTUALLY_FRAME" val="{&quot;height&quot;:86.4,&quot;left&quot;:21.11992125984252,&quot;top&quot;:402.3,&quot;width&quot;:917.757716535433}"/>
</p:tagLst>
</file>

<file path=ppt/tags/tag89.xml><?xml version="1.0" encoding="utf-8"?>
<p:tagLst xmlns:p="http://schemas.openxmlformats.org/presentationml/2006/main">
  <p:tag name="KSO_WM_DIAGRAM_VIRTUALLY_FRAME" val="{&quot;height&quot;:322.1999212598425,&quot;left&quot;:20.16,&quot;top&quot;:111.24000000000001,&quot;width&quot;:919.655905511811}"/>
</p:tagLst>
</file>

<file path=ppt/tags/tag90.xml><?xml version="1.0" encoding="utf-8"?>
<p:tagLst xmlns:p="http://schemas.openxmlformats.org/presentationml/2006/main">
  <p:tag name="KSO_WM_DIAGRAM_VIRTUALLY_FRAME" val="{&quot;height&quot;:322.1999212598425,&quot;left&quot;:20.16,&quot;top&quot;:111.24000000000001,&quot;width&quot;:919.655905511811}"/>
</p:tagLst>
</file>

<file path=ppt/tags/tag91.xml><?xml version="1.0" encoding="utf-8"?>
<p:tagLst xmlns:p="http://schemas.openxmlformats.org/presentationml/2006/main">
  <p:tag name="KSO_WM_DIAGRAM_VIRTUALLY_FRAME" val="{&quot;height&quot;:322.1999212598425,&quot;left&quot;:20.16,&quot;top&quot;:111.24000000000001,&quot;width&quot;:919.655905511811}"/>
</p:tagLst>
</file>

<file path=ppt/tags/tag92.xml><?xml version="1.0" encoding="utf-8"?>
<p:tagLst xmlns:p="http://schemas.openxmlformats.org/presentationml/2006/main">
  <p:tag name="KSO_WM_DIAGRAM_VIRTUALLY_FRAME" val="{&quot;height&quot;:322.1999212598425,&quot;left&quot;:20.16,&quot;top&quot;:111.24000000000001,&quot;width&quot;:919.655905511811}"/>
</p:tagLst>
</file>

<file path=ppt/tags/tag93.xml><?xml version="1.0" encoding="utf-8"?>
<p:tagLst xmlns:p="http://schemas.openxmlformats.org/presentationml/2006/main">
  <p:tag name="KSO_WM_DIAGRAM_VIRTUALLY_FRAME" val="{&quot;height&quot;:322.1999212598425,&quot;left&quot;:20.16,&quot;top&quot;:111.24000000000001,&quot;width&quot;:919.655905511811}"/>
</p:tagLst>
</file>

<file path=ppt/tags/tag94.xml><?xml version="1.0" encoding="utf-8"?>
<p:tagLst xmlns:p="http://schemas.openxmlformats.org/presentationml/2006/main">
  <p:tag name="KSO_WM_DIAGRAM_VIRTUALLY_FRAME" val="{&quot;height&quot;:322.1999212598425,&quot;left&quot;:20.16,&quot;top&quot;:111.24000000000001,&quot;width&quot;:919.655905511811}"/>
</p:tagLst>
</file>

<file path=ppt/tags/tag95.xml><?xml version="1.0" encoding="utf-8"?>
<p:tagLst xmlns:p="http://schemas.openxmlformats.org/presentationml/2006/main">
  <p:tag name="KSO_WM_DIAGRAM_VIRTUALLY_FRAME" val="{&quot;height&quot;:322.1999212598425,&quot;left&quot;:20.16,&quot;top&quot;:111.24000000000001,&quot;width&quot;:919.655905511811}"/>
</p:tagLst>
</file>

<file path=ppt/tags/tag96.xml><?xml version="1.0" encoding="utf-8"?>
<p:tagLst xmlns:p="http://schemas.openxmlformats.org/presentationml/2006/main">
  <p:tag name="KSO_WM_DIAGRAM_VIRTUALLY_FRAME" val="{&quot;height&quot;:322.1999212598425,&quot;left&quot;:20.16,&quot;top&quot;:111.24000000000001,&quot;width&quot;:919.655905511811}"/>
</p:tagLst>
</file>

<file path=ppt/tags/tag97.xml><?xml version="1.0" encoding="utf-8"?>
<p:tagLst xmlns:p="http://schemas.openxmlformats.org/presentationml/2006/main">
  <p:tag name="KSO_WM_DIAGRAM_VIRTUALLY_FRAME" val="{&quot;height&quot;:322.1999212598425,&quot;left&quot;:20.16,&quot;top&quot;:111.24000000000001,&quot;width&quot;:919.655905511811}"/>
</p:tagLst>
</file>

<file path=ppt/tags/tag98.xml><?xml version="1.0" encoding="utf-8"?>
<p:tagLst xmlns:p="http://schemas.openxmlformats.org/presentationml/2006/main">
  <p:tag name="KSO_WM_AICARD_INVALID" val="Invalid"/>
</p:tagLst>
</file>

<file path=ppt/tags/tag99.xml><?xml version="1.0" encoding="utf-8"?>
<p:tagLst xmlns:p="http://schemas.openxmlformats.org/presentationml/2006/main">
  <p:tag name="KSO_WM_AICARD_INVALID" val="Invalid"/>
</p:tagLst>
</file>

<file path=ppt/tags/tag100.xml><?xml version="1.0" encoding="utf-8"?>
<p:tagLst xmlns:p="http://schemas.openxmlformats.org/presentationml/2006/main">
  <p:tag name="COMMONDATA" val="eyJoZGlkIjoiZDFlMjQ2NDczNzA0OWJlNDA3OTJmZGZiMDA3NzgwZj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8622</Words>
  <Application>WPS 演示</Application>
  <PresentationFormat>宽屏</PresentationFormat>
  <Paragraphs>867</Paragraphs>
  <Slides>19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宋体</vt:lpstr>
      <vt:lpstr>Wingdings</vt:lpstr>
      <vt:lpstr>黑体</vt:lpstr>
      <vt:lpstr>微软雅黑</vt:lpstr>
      <vt:lpstr>Arial Unicode MS</vt:lpstr>
      <vt:lpstr>等线</vt:lpstr>
      <vt:lpstr>MS PGothic</vt:lpstr>
      <vt:lpstr>Office 主题​​</vt:lpstr>
      <vt:lpstr>INFERSCHED：基于相位协同的大模型推理内核调度框架 赛题：系统创新-面向 RISC-V Vector 扩展的大语言模型推理并发调度优化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INFERSCHED：基于相位协同的大模型推理内核调度框架 赛题：系统创新-面向 RISC-V Vector 扩展的大语言模型推理并发调度优化</dc:title>
  <dc:creator>Microsoft Office User</dc:creator>
  <cp:lastModifiedBy>WPS_1604231824</cp:lastModifiedBy>
  <cp:revision>27</cp:revision>
  <dcterms:created xsi:type="dcterms:W3CDTF">2026-10-13T17:04:00Z</dcterms:created>
  <dcterms:modified xsi:type="dcterms:W3CDTF">2026-10-13T18:55:04Z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1CCD232FD414478DA6335AA7F095A740_13</vt:lpwstr>
  </property>
  <property fmtid="{D5CDD505-2E9C-101B-9397-08002B2CF9AE}" pid="3" name="KSOProductBuildVer">
    <vt:lpwstr>2052-12.1.0.29161</vt:lpwstr>
  </property>
</Properties>
</file>